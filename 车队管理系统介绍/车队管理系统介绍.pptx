
<file path=[Content_Types].xml><?xml version="1.0" encoding="utf-8"?>
<Types xmlns="http://schemas.openxmlformats.org/package/2006/content-types">
  <Default Extension="png" ContentType="image/png"/>
  <Default Extension="xml" ContentType="application/xml"/>
  <Default Extension="rels" ContentType="application/vnd.openxmlformats-package.relationships+xml"/>
  <Override PartName="/ppt/theme/theme2.xml" ContentType="application/vnd.openxmlformats-officedocument.them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  <Override PartName="/ppt/slides/slide1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13.xml" ContentType="application/vnd.openxmlformats-officedocument.presentationml.slide+xml"/>
  <Override PartName="/docProps/core.xml" ContentType="application/vnd.openxmlformats-package.core-properties+xml"/>
  <Override PartName="/ppt/slides/slide3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officeDocument/2006/relationships/custom-properties" Target="docProps/custom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r="http://schemas.openxmlformats.org/officeDocument/2006/relationships" xmlns:p="http://schemas.openxmlformats.org/presentationml/2006/main" xmlns:a="http://schemas.openxmlformats.org/drawingml/2006/main" firstSlideNum="1">
  <p:sldMasterIdLst>
    <p:sldMasterId id="2147483648" r:id="rId0"/>
  </p:sldMasterIdLst>
  <p:notesMasterIdLst>
    <p:notesMasterId r:id="rId1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7" Type="http://schemas.openxmlformats.org/officeDocument/2006/relationships/slide" Target="slides/slide7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16" Type="http://schemas.openxmlformats.org/officeDocument/2006/relationships/presProps" Target="presProps.xml" /><Relationship Id="rId15" Type="http://schemas.openxmlformats.org/officeDocument/2006/relationships/notesMaster" Target="notesMasters/notesMaster1.xml" /><Relationship Id="rId14" Type="http://schemas.openxmlformats.org/officeDocument/2006/relationships/slide" Target="slides/slide14.xml" /><Relationship Id="rId13" Type="http://schemas.openxmlformats.org/officeDocument/2006/relationships/slide" Target="slides/slide13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2" Type="http://schemas.openxmlformats.org/officeDocument/2006/relationships/slide" Target="slides/slide2.xml" /><Relationship Id="rId18" Type="http://schemas.openxmlformats.org/officeDocument/2006/relationships/viewProps" Target="viewProps.xml" /><Relationship Id="rId17" Type="http://schemas.openxmlformats.org/officeDocument/2006/relationships/tableStyles" Target="tableStyle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r="http://schemas.openxmlformats.org/officeDocument/2006/relationships"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6.pn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7.pn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8.pn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9.pn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0.pn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3" Type="http://schemas.openxmlformats.org/officeDocument/2006/relationships/image" Target="media/image4.png" /><Relationship Id="rId2" Type="http://schemas.openxmlformats.org/officeDocument/2006/relationships/image" Target="media/image3.png" /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5.pn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linear-gradient(135deg, #111827 0%, #1E2635 100%)', padding: '0px', position: 'relative', overflow: 'hidden' }}&gt;&#10;    {/* 右侧装饰：细环 + 点 */}&#10;    &lt;Box style={{ position: 'absolute', right: 24, top: 62, width: 550, height: 550, borderRadius: '50%', border: '1px solid rgba(200,16,46,0.50)' }} /&gt;&#10;    &lt;Box style={{ position: 'absolute', right: 149, top: 187, width: 300, height: 300, borderRadius: '50%', border: '1px solid rgba(255,255,255,0.12)' }} /&gt;&#10;    &lt;Box style={{ position: 'absolute', right: 262, top: 300, width: 82, height: 82, borderRadius: '50%', background: 'rgba(200,16,46,0.18)' }} /&gt;&#10;    &lt;Box style={{ position: 'absolute', right: 298, top: 336, width: 10, height: 10, borderRadius: '50%', background: '#C8102E' }} /&gt;&#10;&#10;    {/* 左侧文字 */}&#10;    &lt;Box style={{ position: 'absolute', left: 84, top: 118, width: 700, flexDirection: 'column' }}&gt;&#10;        &lt;Box style={{ flexDirection: 'row', alignItems: 'center', gap: 10, marginBottom: 26 }}&gt;&#10;            &lt;Box style={{ width: 28, height: 3, background: '#C8102E' }} /&gt;&#10;            &lt;Text style={{ fontSize: 13, color: '#E5E7EB', fontWeight: 700, letterSpacing: 3 }}&gt;东风车队 · 运营管理&lt;/Text&gt;&#10;        &lt;/Box&gt;&#10;&#10;        &lt;Text style={{ fontSize: 66, color: '#FFFFFF', fontWeight: 800, lineHeight: 1.14, letterSpacing: 1 }}&gt;&#10;            车队一体化&lt;Text style={{ fontSize: 66, color: '#FF4D63', fontWeight: 800, lineHeight: 1.14 }}&gt;运营&lt;/Text&gt;平台&#10;        &lt;/Text&gt;&#10;&#10;        &lt;Text style={{ fontSize: 19, color: '#C3CAD6', fontWeight: 400, lineHeight: 1.9, marginTop: 26, width: 620 }}&gt;&#10;            一辆车、一趟货、一笔钱，从派车到结算全程留痕。&lt;br /&gt;&#10;            管理端负责看和定，手机端负责干和报——同一份数据，两头都对得上。&#10;        &lt;/Text&gt;&#10;&#10;        &lt;Box style={{ flexDirection: 'row', gap: 10, marginTop: 40 }}&gt;&#10;            {['Web 管理端', '司机小程序', '财务小程序'].map((t, i) =&gt; (&#10;                &lt;Box key={i} style={{ padding: '9px 18px', borderRadius: 4, border: '1px solid rgba(255,255,255,0.22)', background: 'rgba(255,255,255,0.05)' }}&gt;&#10;                    &lt;Text style={{ fontSize: 13, color: '#E5E7EB', fontWeight: 600, letterSpacing: 1 }}&gt;{t}&lt;/Text&gt;&#10;                &lt;/Box&gt;&#10;            ))}&#10;        &lt;/Box&gt;&#10;    &lt;/Box&gt;&#10;&#10;    {/* 底部信息 */}&#10;    &lt;Box style={{ position: 'absolute', left: 84, bottom: 52, flexDirection: 'row', alignItems: 'center', gap: 14 }}&gt;&#10;        &lt;Box style={{ width: 40, height: 1, background: 'rgba(255,255,255,0.35)' }} /&gt;&#10;        &lt;Text style={{ fontSize: 12.5, color: '#9AA3AF', letterSpacing: 1 }}&gt;业务介绍与推广 · 2026.10&lt;/Text&gt;&#10;    &lt;/Box&gt;&#10;&#10;    {/* 右下角三个数 */}&#10;    &lt;Box style={{ position: 'absolute', right: 64, bottom: 44, flexDirection: 'row', alignItems: 'flex-end', gap: 26 }}&gt;&#10;        {[['3', '端同源'], ['9', '种运单状态'], ['10', '步全流程闭环']].map((it, i) =&gt; (&#10;            &lt;Box key={i} style={{ flexDirection: 'column', alignItems: 'center' }}&gt;&#10;                &lt;Text style={{ fontSize: 30, color: '#FFFFFF', fontWeight: 800, lineHeight: 1.0 }}&gt;{it[0]}&lt;/Text&gt;&#10;                &lt;Text style={{ fontSize: 11.5, color: '#9AA3AF', marginTop: 8, letterSpacing: 1 }}&gt;{it[1]}&lt;/Text&gt;&#10;            &lt;/Box&gt;&#10;        ))}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100000">
                <a:srgbClr val="1E263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724650" y="590550"/>
            <a:ext cx="5238750" cy="5238750"/>
          </a:xfrm>
          <a:custGeom>
            <a:pathLst>
              <a:path w="550" h="550">
                <a:moveTo>
                  <a:pt x="275" y="0"/>
                </a:moveTo>
                <a:lnTo>
                  <a:pt x="275" y="0"/>
                </a:lnTo>
                <a:cubicBezTo>
                  <a:pt x="427" y="0"/>
                  <a:pt x="550" y="123"/>
                  <a:pt x="550" y="275"/>
                </a:cubicBezTo>
                <a:lnTo>
                  <a:pt x="550" y="275"/>
                </a:lnTo>
                <a:cubicBezTo>
                  <a:pt x="550" y="427"/>
                  <a:pt x="427" y="550"/>
                  <a:pt x="275" y="550"/>
                </a:cubicBezTo>
                <a:lnTo>
                  <a:pt x="275" y="550"/>
                </a:lnTo>
                <a:cubicBezTo>
                  <a:pt x="123" y="550"/>
                  <a:pt x="0" y="427"/>
                  <a:pt x="0" y="275"/>
                </a:cubicBezTo>
                <a:lnTo>
                  <a:pt x="0" y="275"/>
                </a:lnTo>
                <a:cubicBezTo>
                  <a:pt x="0" y="123"/>
                  <a:pt x="123" y="0"/>
                  <a:pt x="275" y="0"/>
                </a:cubicBezTo>
                <a:close/>
              </a:path>
            </a:pathLst>
          </a:custGeom>
          <a:ln w="12700">
            <a:solidFill>
              <a:srgbClr val="C8102E">
                <a:alpha val="5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7915275" y="1781175"/>
            <a:ext cx="2857500" cy="2857500"/>
          </a:xfrm>
          <a:custGeom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8915400" y="2857500"/>
            <a:ext cx="781050" cy="781050"/>
          </a:xfrm>
          <a:custGeom>
            <a:pathLst>
              <a:path w="82" h="82">
                <a:moveTo>
                  <a:pt x="41" y="0"/>
                </a:moveTo>
                <a:lnTo>
                  <a:pt x="41" y="0"/>
                </a:lnTo>
                <a:cubicBezTo>
                  <a:pt x="64" y="0"/>
                  <a:pt x="82" y="18"/>
                  <a:pt x="82" y="41"/>
                </a:cubicBezTo>
                <a:lnTo>
                  <a:pt x="82" y="41"/>
                </a:lnTo>
                <a:cubicBezTo>
                  <a:pt x="82" y="64"/>
                  <a:pt x="64" y="82"/>
                  <a:pt x="41" y="82"/>
                </a:cubicBezTo>
                <a:lnTo>
                  <a:pt x="41" y="82"/>
                </a:lnTo>
                <a:cubicBezTo>
                  <a:pt x="18" y="82"/>
                  <a:pt x="0" y="64"/>
                  <a:pt x="0" y="41"/>
                </a:cubicBezTo>
                <a:lnTo>
                  <a:pt x="0" y="41"/>
                </a:lnTo>
                <a:cubicBezTo>
                  <a:pt x="0" y="18"/>
                  <a:pt x="18" y="0"/>
                  <a:pt x="41" y="0"/>
                </a:cubicBezTo>
                <a:close/>
              </a:path>
            </a:pathLst>
          </a:custGeom>
          <a:solidFill>
            <a:srgbClr val="C8102E">
              <a:alpha val="18000"/>
            </a:srgbClr>
          </a:solidFill>
          <a:ln/>
        </p:spPr>
        <p:txBody>
          <a:bodyPr/>
          <a:p/>
        </p:txBody>
      </p:sp>
      <p:sp>
        <p:nvSpPr>
          <p:cNvPr id="6" name=""/>
          <p:cNvSpPr/>
          <p:nvPr/>
        </p:nvSpPr>
        <p:spPr>
          <a:xfrm rot="0" flipH="0" flipV="0">
            <a:off x="9258300" y="3200400"/>
            <a:ext cx="95250" cy="95250"/>
          </a:xfrm>
          <a:custGeom>
            <a:pathLst>
              <a:path w="10" h="10">
                <a:moveTo>
                  <a:pt x="5" y="0"/>
                </a:moveTo>
                <a:lnTo>
                  <a:pt x="5" y="0"/>
                </a:lnTo>
                <a:cubicBezTo>
                  <a:pt x="8" y="0"/>
                  <a:pt x="10" y="2"/>
                  <a:pt x="10" y="5"/>
                </a:cubicBezTo>
                <a:lnTo>
                  <a:pt x="10" y="5"/>
                </a:lnTo>
                <a:cubicBezTo>
                  <a:pt x="10" y="8"/>
                  <a:pt x="8" y="10"/>
                  <a:pt x="5" y="10"/>
                </a:cubicBezTo>
                <a:lnTo>
                  <a:pt x="5" y="10"/>
                </a:lnTo>
                <a:cubicBezTo>
                  <a:pt x="2" y="10"/>
                  <a:pt x="0" y="8"/>
                  <a:pt x="0" y="5"/>
                </a:cubicBezTo>
                <a:lnTo>
                  <a:pt x="0" y="5"/>
                </a:lnTo>
                <a:cubicBezTo>
                  <a:pt x="0" y="2"/>
                  <a:pt x="2" y="0"/>
                  <a:pt x="5" y="0"/>
                </a:cubicBezTo>
                <a:close/>
              </a:path>
            </a:pathLst>
          </a:custGeom>
          <a:solidFill>
            <a:srgbClr val="C8102E"/>
          </a:solidFill>
          <a:ln/>
        </p:spPr>
        <p:txBody>
          <a:bodyPr/>
          <a:p/>
        </p:txBody>
      </p:sp>
      <p:sp>
        <p:nvSpPr>
          <p:cNvPr id="7" name=""/>
          <p:cNvSpPr/>
          <p:nvPr/>
        </p:nvSpPr>
        <p:spPr>
          <a:xfrm rot="0" flipH="0" flipV="0">
            <a:off x="800100" y="1190625"/>
            <a:ext cx="266700" cy="2857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162050" y="1123950"/>
            <a:ext cx="14192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225">
                <a:solidFill>
                  <a:srgbClr val="E5E7EB"/>
                </a:solidFill>
                <a:latin typeface="Microsoft YaHei"/>
                <a:ea typeface="Microsoft YaHei"/>
              </a:rPr>
              <a:t>东风车队</a:t>
            </a:r>
            <a:r>
              <a:rPr lang="en-US" sz="975" b="1" spc="225">
                <a:solidFill>
                  <a:srgbClr val="E5E7EB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 b="1" spc="225">
                <a:solidFill>
                  <a:srgbClr val="E5E7EB"/>
                </a:solidFill>
                <a:latin typeface="Microsoft YaHei"/>
                <a:ea typeface="Microsoft YaHei"/>
              </a:rPr>
              <a:t>运营管理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800100" y="1524000"/>
            <a:ext cx="6667500" cy="866775"/>
          </a:xfrm>
          <a:prstGeom prst="rect"/>
        </p:spPr>
        <p:txBody>
          <a:bodyPr wrap="none" lIns="0" tIns="0" rIns="0" bIns="0"/>
          <a:p>
            <a:pPr>
              <a:lnSpc>
                <a:spcPct val="113999"/>
              </a:lnSpc>
            </a:pPr>
            <a:r>
              <a:rPr lang="zh-CN" sz="4950" b="1" spc="75">
                <a:solidFill>
                  <a:srgbClr val="FFFFFF"/>
                </a:solidFill>
                <a:latin typeface="Microsoft YaHei"/>
                <a:ea typeface="Microsoft YaHei"/>
              </a:rPr>
              <a:t>车队一体化</a:t>
            </a:r>
            <a:r>
              <a:rPr lang="zh-CN" sz="4950" b="1" spc="75">
                <a:solidFill>
                  <a:srgbClr val="FFFFFF"/>
                </a:solidFill>
                <a:latin typeface="Microsoft YaHei"/>
                <a:ea typeface="Microsoft YaHei"/>
              </a:rPr>
              <a:t>运营</a:t>
            </a:r>
            <a:r>
              <a:rPr lang="zh-CN" sz="4950" b="1" spc="75">
                <a:solidFill>
                  <a:srgbClr val="FFFFFF"/>
                </a:solidFill>
                <a:latin typeface="Microsoft YaHei"/>
                <a:ea typeface="Microsoft YaHei"/>
              </a:rPr>
              <a:t>平台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2638425"/>
            <a:ext cx="5905500" cy="828675"/>
          </a:xfrm>
          <a:prstGeom prst="rect"/>
        </p:spPr>
        <p:txBody>
          <a:bodyPr wrap="none" lIns="0" tIns="0" rIns="0" bIns="0"/>
          <a:p>
            <a:pPr>
              <a:lnSpc>
                <a:spcPct val="190000"/>
              </a:lnSpc>
            </a:pPr>
            <a:r>
              <a:rPr lang="zh-CN" sz="1425">
                <a:solidFill>
                  <a:srgbClr val="C3CAD6"/>
                </a:solidFill>
                <a:latin typeface="Microsoft YaHei"/>
                <a:ea typeface="Microsoft YaHei"/>
              </a:rPr>
              <a:t>一辆车、一趟货、一笔钱，从派车到结算全程留痕。</a:t>
            </a:r>
            <a:endParaRPr/>
          </a:p>
          <a:p>
            <a:pPr>
              <a:lnSpc>
                <a:spcPct val="190000"/>
              </a:lnSpc>
            </a:pPr>
            <a:r>
              <a:rPr lang="zh-CN" sz="1425">
                <a:solidFill>
                  <a:srgbClr val="C3CAD6"/>
                </a:solidFill>
                <a:latin typeface="Microsoft YaHei"/>
                <a:ea typeface="Microsoft YaHei"/>
              </a:rPr>
              <a:t>管理端负责看和定，手机端负责干和报——同一份数据，两头都对得上。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800100" y="3848100"/>
            <a:ext cx="1085850" cy="32385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971550" y="3933825"/>
            <a:ext cx="7429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b="1" spc="75">
                <a:solidFill>
                  <a:srgbClr val="E5E7EB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975" b="1" spc="75">
                <a:solidFill>
                  <a:srgbClr val="E5E7EB"/>
                </a:solidFill>
                <a:latin typeface="Microsoft YaHei"/>
                <a:ea typeface="Microsoft YaHei"/>
              </a:rPr>
              <a:t>管理端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1981200" y="3848100"/>
            <a:ext cx="1009650" cy="32385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2152650" y="39338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E5E7EB"/>
                </a:solidFill>
                <a:latin typeface="Microsoft YaHei"/>
                <a:ea typeface="Microsoft YaHei"/>
              </a:rPr>
              <a:t>司机小程序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3086100" y="3848100"/>
            <a:ext cx="1009650" cy="323850"/>
          </a:xfrm>
          <a:prstGeom prst="roundRect">
            <a:avLst>
              <a:gd name="adj" fmla="val 11765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2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257550" y="3933825"/>
            <a:ext cx="666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b="1" spc="75">
                <a:solidFill>
                  <a:srgbClr val="E5E7EB"/>
                </a:solidFill>
                <a:latin typeface="Microsoft YaHei"/>
                <a:ea typeface="Microsoft YaHei"/>
              </a:rPr>
              <a:t>财务小程序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800100" y="6286500"/>
            <a:ext cx="3810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314450" y="6219825"/>
            <a:ext cx="1533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9AA3AF"/>
                </a:solidFill>
                <a:latin typeface="Microsoft YaHei"/>
                <a:ea typeface="Microsoft YaHei"/>
              </a:rPr>
              <a:t>业务介绍与推广</a:t>
            </a:r>
            <a:r>
              <a:rPr lang="en-US" sz="938" spc="75">
                <a:solidFill>
                  <a:srgbClr val="9AA3AF"/>
                </a:solidFill>
                <a:latin typeface="Microsoft YaHei"/>
                <a:ea typeface="Microsoft YaHei"/>
              </a:rPr>
              <a:t xml:space="preserve"> · 2026.10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9515475" y="5886450"/>
            <a:ext cx="161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9410700" y="6305550"/>
            <a:ext cx="361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9AA3AF"/>
                </a:solidFill>
                <a:latin typeface="Microsoft YaHei"/>
                <a:ea typeface="Microsoft YaHei"/>
              </a:rPr>
              <a:t>端同源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0239375" y="5886450"/>
            <a:ext cx="161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020300" y="6305550"/>
            <a:ext cx="600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9AA3AF"/>
                </a:solidFill>
                <a:latin typeface="Microsoft YaHei"/>
                <a:ea typeface="Microsoft YaHei"/>
              </a:rPr>
              <a:t>种运单状态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11068050" y="5886450"/>
            <a:ext cx="3238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10868025" y="6305550"/>
            <a:ext cx="7143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9AA3AF"/>
                </a:solidFill>
                <a:latin typeface="Microsoft YaHei"/>
                <a:ea typeface="Microsoft YaHei"/>
              </a:rPr>
              <a:t>步全流程闭环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83" name="" descr="&lt;Slide style={{ width: 1280, height: 720, background: '#FFFFFF', padding: '40px 64px 24px 64px', flexDirection: 'column' }}&gt;&#10;    {/* A 标题块 */}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1　平台是什么&lt;/Text&gt;&#10;            &lt;Text style={{ fontSize: 34, color: '#111827', fontWeight: 700, lineHeight: 1.2, marginTop: 6 }}&gt;一个平台，三本账&lt;/Text&gt;&#10;        &lt;/Box&gt;&#10;        &lt;Box style={{ flex: 1 }} /&gt;&#10;        &lt;Text style={{ fontSize: 13, color: '#6B7280', marginTop: 34 }}&gt;车 · 单 · 钱，同一份数据&lt;/Text&gt;&#10;    &lt;/Box&gt;&#10;&#10;    {/* B 内容区 */}&#10;    &lt;Box style={{ flex: 1, flexDirection: 'column', paddingTop: 10 }}&gt;&#10;        &lt;Text style={{ fontSize: 16, color: '#374151', lineHeight: 1.7, width: 1010 }}&gt;&#10;            车队管不好的三件事，说到底就是三句话：&lt;Text style={{ color: '#C8102E', fontWeight: 700 }}&gt;车不知道在哪、单不知道走到哪、钱不知道花在哪。&lt;/Text&gt;&lt;br /&gt;&#10;            平台把这三件事放到同一张桌上——管车的、管单的、管钱的是同一份记录。&#10;        &lt;/Text&gt;&#10;&#10;        &lt;Box style={{ flexDirection: 'row', gap: 20, marginTop: 24, flex: 1 }}&gt;&#10;            {[&#10;                { k: '车', t: '看得见', d: '一台车从买到用到修，一条记录跟到底。', items: ['车辆档案：车牌、司机、所属分公司', '保养与年检到期，提前提醒', '电耗、里程、驾驶行为排得上名'], m: '在管 24 台', m2: '出车率 81%' },&#10;                { k: '单', t: '管得住', d: '建单到签收，九个状态自己往前走。', items: ['建单派车：指派到车、到人', '司机手机接单，装车发车到场打卡', '谁在什么时候做了什么，都有时间'], m: '9 种状态', m2: '10 步闭环' },&#10;                { k: '钱', t: '算得清', d: '一句话对上&quot;这趟到底赚没赚&quot;。', items: ['费用上报必须带凭证照片', '按金额分级审批，审过才能打款', '台账自动汇总，按车按人随查'], m: '一笔一凭证', m2: '零纸质单' }&#10;            ].map((c, i) =&gt; (&#10;                &lt;Box key={i} style={{ flex: 1, background: '#F4F5F7', borderRadius: 6, padding: '26px 26px 24px 26px', flexDirection: 'column' }}&gt;&#10;                    &lt;Box style={{ flexDirection: 'row', alignItems: 'center', gap: 12 }}&gt;&#10;                        &lt;Box style={{ width: 46, height: 46, borderRadius: 4, background: '#C8102E', justifyContent: 'center', alignItems: 'center' }}&gt;&#10;                            &lt;Text style={{ fontSize: 24, color: '#FFFFFF', fontWeight: 800 }}&gt;{c.k}&lt;/Text&gt;&#10;                        &lt;/Box&gt;&#10;                        &lt;Text style={{ fontSize: 21, color: '#111827', fontWeight: 700, letterSpacing: 1 }}&gt;{c.t}&lt;/Text&gt;&#10;                    &lt;/Box&gt;&#10;                    &lt;Text style={{ fontSize: 14.5, color: '#111827', fontWeight: 600, lineHeight: 1.7, marginTop: 18 }}&gt;{c.d}&lt;/Text&gt;&#10;                    &lt;Box style={{ flexDirection: 'column', gap: 9, marginTop: 12 }}&gt;&#10;                        {c.items.map((it, j) =&gt; (&#10;                            &lt;Box key={j} style={{ flexDirection: 'row', alignItems: 'flex-start', gap: 8 }}&gt;&#10;                                &lt;Box style={{ width: 5, height: 5, background: '#C8102E', marginTop: 9 }} /&gt;&#10;                                &lt;Text style={{ fontSize: 13.5, color: '#4B5563', lineHeight: 1.6, width: 300 }}&gt;{it}&lt;/Text&gt;&#10;                            &lt;/Box&gt;&#10;                        ))}&#10;                    &lt;/Box&gt;&#10;                    &lt;Box style={{ flex: 1 }} /&gt;&#10;                    &lt;Box style={{ flexDirection: 'row', gap: 8, marginTop: 18 }}&gt;&#10;                        &lt;Text style={{ fontSize: 12, color: '#111827', fontWeight: 700, background: '#FFFFFF', padding: '6px 12px', borderRadius: 3 }}&gt;{c.m}&lt;/Text&gt;&#10;                        &lt;Text style={{ fontSize: 12, color: '#111827', fontWeight: 700, background: '#FFFFFF', padding: '6px 12px', borderRadius: 3 }}&gt;{c.m2}&lt;/Text&gt;&#10;                    &lt;/Box&gt;&#10;                &lt;/Box&gt;&#10;            ))}&#10;        &lt;/Box&gt;&#10;&#10;        {/* 结论条 */}&#10;        &lt;Box style={{ marginTop: 22, flexDirection: 'row', alignItems: 'center', background: '#111827', borderRadius: 4, padding: '18px 26px' }}&gt;&#10;            &lt;Box style={{ width: 3, height: 20, background: '#C8102E', marginRight: 16 }} /&gt;&#10;            &lt;Text style={{ fontSize: 15.5, color: '#F3F4F6', lineHeight: 1.6 }}&gt;&#10;                管理端负责&lt;Text style={{ color: '#FF4D63', fontWeight: 700 }}&gt;看数据和定规则&lt;/Text&gt;，手机端负责&lt;Text style={{ color: '#FF4D63', fontWeight: 700 }}&gt;在现场把动作做掉&lt;/Text&gt;——两端同一份账，不会出现&quot;两套数&quot;。&#10;            &lt;/Text&gt;&#10;        &lt;/Box&gt;&#10;    &lt;/Box&gt;&#10;&#10;    {/* C 页脚 */}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0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5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2590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平台是什么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25908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一个平台，三本账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0239375" y="704850"/>
            <a:ext cx="13430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车</a:t>
            </a:r>
            <a:r>
              <a:rPr lang="en-US" sz="97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单</a:t>
            </a:r>
            <a:r>
              <a:rPr lang="en-US" sz="975">
                <a:solidFill>
                  <a:srgbClr val="6B728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钱，同一份数据</a:t>
            </a:r>
            <a:endParaRPr/>
          </a:p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609600" y="1219200"/>
            <a:ext cx="9620250" cy="628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200">
                <a:solidFill>
                  <a:srgbClr val="374151"/>
                </a:solidFill>
                <a:latin typeface="Microsoft YaHei"/>
                <a:ea typeface="Microsoft YaHei"/>
              </a:rPr>
              <a:t>车队管不好的三件事，说到底就是三句话：</a:t>
            </a:r>
            <a:r>
              <a:rPr lang="zh-CN" sz="1200">
                <a:solidFill>
                  <a:srgbClr val="374151"/>
                </a:solidFill>
                <a:latin typeface="Microsoft YaHei"/>
                <a:ea typeface="Microsoft YaHei"/>
              </a:rPr>
              <a:t>车不知道在哪、单不知道走到哪、钱不知道花在哪。</a:t>
            </a:r>
            <a:endParaRPr/>
          </a:p>
          <a:p>
            <a:pPr>
              <a:lnSpc>
                <a:spcPct val="170000"/>
              </a:lnSpc>
            </a:pPr>
            <a:r>
              <a:rPr lang="zh-CN" sz="1200">
                <a:solidFill>
                  <a:srgbClr val="374151"/>
                </a:solidFill>
                <a:latin typeface="Microsoft YaHei"/>
                <a:ea typeface="Microsoft YaHei"/>
              </a:rPr>
              <a:t>平台把这三件事放到同一张桌上——管车的、管单的、管钱的是同一份记录。</a:t>
            </a:r>
            <a:endParaRPr/>
          </a:p>
        </p:txBody>
      </p:sp>
      <p:sp>
        <p:nvSpPr>
          <p:cNvPr id="190" name=""/>
          <p:cNvSpPr/>
          <p:nvPr/>
        </p:nvSpPr>
        <p:spPr>
          <a:xfrm rot="0" flipH="0" flipV="0">
            <a:off x="609600" y="2076450"/>
            <a:ext cx="3533775" cy="3486150"/>
          </a:xfrm>
          <a:prstGeom prst="roundRect">
            <a:avLst>
              <a:gd name="adj" fmla="val 1639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191" name=""/>
          <p:cNvSpPr/>
          <p:nvPr/>
        </p:nvSpPr>
        <p:spPr>
          <a:xfrm rot="0" flipH="0" flipV="0">
            <a:off x="857250" y="23241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62025" y="24098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车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409700" y="2419350"/>
            <a:ext cx="628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75">
                <a:solidFill>
                  <a:srgbClr val="111827"/>
                </a:solidFill>
                <a:latin typeface="Microsoft YaHei"/>
                <a:ea typeface="Microsoft YaHei"/>
              </a:rPr>
              <a:t>看得见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57250" y="2933700"/>
            <a:ext cx="3038475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一台车从买到用到修，一条记录跟到底。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857250" y="341947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981075" y="33337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车辆档案：车牌、司机、所属分公司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857250" y="3752850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981075" y="36671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保养与年检到期，提前提醒</a:t>
            </a:r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857250" y="408622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981075" y="400050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电耗、里程、驾驶行为排得上名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857250" y="5076825"/>
            <a:ext cx="77152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857250" y="5076825"/>
            <a:ext cx="771525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在管</a:t>
            </a:r>
            <a:r>
              <a:rPr lang="en-US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 xml:space="preserve"> 24 </a:t>
            </a: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台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1704975" y="5076825"/>
            <a:ext cx="838200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1704975" y="5076825"/>
            <a:ext cx="838200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出车率</a:t>
            </a:r>
            <a:r>
              <a:rPr lang="en-US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 xml:space="preserve"> 81%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4333875" y="2076450"/>
            <a:ext cx="3524250" cy="3486150"/>
          </a:xfrm>
          <a:prstGeom prst="roundRect">
            <a:avLst>
              <a:gd name="adj" fmla="val 1639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206" name=""/>
          <p:cNvSpPr/>
          <p:nvPr/>
        </p:nvSpPr>
        <p:spPr>
          <a:xfrm rot="0" flipH="0" flipV="0">
            <a:off x="4581525" y="23241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4686300" y="24098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单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5133975" y="2419350"/>
            <a:ext cx="628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75">
                <a:solidFill>
                  <a:srgbClr val="111827"/>
                </a:solidFill>
                <a:latin typeface="Microsoft YaHei"/>
                <a:ea typeface="Microsoft YaHei"/>
              </a:rPr>
              <a:t>管得住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4581525" y="2933700"/>
            <a:ext cx="3028950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建单到签收，九个状态自己往前走。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4581525" y="341947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4705350" y="33337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建单派车：指派到车、到人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4581525" y="3752850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4705350" y="36671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司机手机接单，装车发车到场打卡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4581525" y="408622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4705350" y="400050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谁在什么时候做了什么，都有时间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4581525" y="5076825"/>
            <a:ext cx="67627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4581525" y="5076825"/>
            <a:ext cx="676275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 xml:space="preserve">9 </a:t>
            </a: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种状态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5334000" y="5076825"/>
            <a:ext cx="733425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334000" y="5076825"/>
            <a:ext cx="733425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 xml:space="preserve">10 </a:t>
            </a: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步闭环</a:t>
            </a:r>
            <a:endParaRPr/>
          </a:p>
        </p:txBody>
      </p:sp>
      <p:sp>
        <p:nvSpPr>
          <p:cNvPr id="220" name=""/>
          <p:cNvSpPr/>
          <p:nvPr/>
        </p:nvSpPr>
        <p:spPr>
          <a:xfrm rot="0" flipH="0" flipV="0">
            <a:off x="8048625" y="2076450"/>
            <a:ext cx="3533775" cy="3486150"/>
          </a:xfrm>
          <a:prstGeom prst="roundRect">
            <a:avLst>
              <a:gd name="adj" fmla="val 1639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221" name=""/>
          <p:cNvSpPr/>
          <p:nvPr/>
        </p:nvSpPr>
        <p:spPr>
          <a:xfrm rot="0" flipH="0" flipV="0">
            <a:off x="8296275" y="2324100"/>
            <a:ext cx="438150" cy="438150"/>
          </a:xfrm>
          <a:prstGeom prst="roundRect">
            <a:avLst>
              <a:gd name="adj" fmla="val 8696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8401050" y="2409825"/>
            <a:ext cx="228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钱</a:t>
            </a:r>
            <a:endParaRPr/>
          </a:p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8848725" y="2419350"/>
            <a:ext cx="628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75">
                <a:solidFill>
                  <a:srgbClr val="111827"/>
                </a:solidFill>
                <a:latin typeface="Microsoft YaHei"/>
                <a:ea typeface="Microsoft YaHei"/>
              </a:rPr>
              <a:t>算得清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8296275" y="2933700"/>
            <a:ext cx="3038475" cy="2857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一句话对上</a:t>
            </a:r>
            <a:r>
              <a:rPr lang="en-US" sz="1088" b="1">
                <a:solidFill>
                  <a:srgbClr val="111827"/>
                </a:solidFill>
                <a:latin typeface="Microsoft YaHei"/>
                <a:ea typeface="Microsoft YaHei"/>
              </a:rPr>
              <a:t>"</a:t>
            </a: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这趟到底赚没赚</a:t>
            </a:r>
            <a:r>
              <a:rPr lang="en-US" sz="1088" b="1">
                <a:solidFill>
                  <a:srgbClr val="111827"/>
                </a:solidFill>
                <a:latin typeface="Microsoft YaHei"/>
                <a:ea typeface="Microsoft YaHei"/>
              </a:rPr>
              <a:t>"</a:t>
            </a: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8296275" y="341947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8420100" y="333375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费用上报必须带凭证照片</a:t>
            </a:r>
            <a:endParaRPr/>
          </a:p>
        </p:txBody>
      </p:sp>
      <p:sp>
        <p:nvSpPr>
          <p:cNvPr id="227" name=""/>
          <p:cNvSpPr/>
          <p:nvPr/>
        </p:nvSpPr>
        <p:spPr>
          <a:xfrm rot="0" flipH="0" flipV="0">
            <a:off x="8296275" y="3752850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8420100" y="366712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按金额分级审批，审过才能打款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8296275" y="408622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8420100" y="4000500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台账自动汇总，按车按人随查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8296275" y="5076825"/>
            <a:ext cx="800100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8296275" y="5076825"/>
            <a:ext cx="800100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一笔一凭证</a:t>
            </a:r>
            <a:endParaRPr/>
          </a:p>
        </p:txBody>
      </p:sp>
      <p:sp>
        <p:nvSpPr>
          <p:cNvPr id="233" name=""/>
          <p:cNvSpPr/>
          <p:nvPr/>
        </p:nvSpPr>
        <p:spPr>
          <a:xfrm rot="0" flipH="0" flipV="0">
            <a:off x="9172575" y="5076825"/>
            <a:ext cx="685800" cy="2571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9172575" y="5076825"/>
            <a:ext cx="685800" cy="257175"/>
          </a:xfrm>
          <a:prstGeom prst="rect"/>
        </p:spPr>
        <p:txBody>
          <a:bodyPr wrap="none" lIns="85725" tIns="42863" rIns="85725" bIns="42863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111827"/>
                </a:solidFill>
                <a:highlight>
                  <a:srgbClr val="FFFFFF"/>
                </a:highlight>
                <a:latin typeface="Microsoft YaHei"/>
                <a:ea typeface="Microsoft YaHei"/>
              </a:rPr>
              <a:t>零纸质单</a:t>
            </a:r>
            <a:endParaRPr/>
          </a:p>
        </p:txBody>
      </p:sp>
      <p:sp>
        <p:nvSpPr>
          <p:cNvPr id="235" name=""/>
          <p:cNvSpPr/>
          <p:nvPr/>
        </p:nvSpPr>
        <p:spPr>
          <a:xfrm rot="0" flipH="0" flipV="0">
            <a:off x="609600" y="5772150"/>
            <a:ext cx="10972800" cy="628650"/>
          </a:xfrm>
          <a:prstGeom prst="roundRect">
            <a:avLst>
              <a:gd name="adj" fmla="val 6061"/>
            </a:avLst>
          </a:prstGeom>
          <a:solidFill>
            <a:srgbClr val="111827"/>
          </a:solidFill>
          <a:ln/>
        </p:spPr>
        <p:txBody>
          <a:bodyPr/>
          <a:p/>
        </p:txBody>
      </p:sp>
      <p:sp>
        <p:nvSpPr>
          <p:cNvPr id="236" name=""/>
          <p:cNvSpPr/>
          <p:nvPr/>
        </p:nvSpPr>
        <p:spPr>
          <a:xfrm rot="0" flipH="0" flipV="0">
            <a:off x="857250" y="5991225"/>
            <a:ext cx="28575" cy="1905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038225" y="5943600"/>
            <a:ext cx="6457950" cy="2857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管理端负责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看数据和定规则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，手机端负责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在现场把动作做掉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——两端同一份账，不会出现</a:t>
            </a:r>
            <a:r>
              <a:rPr lang="en-US" sz="1163">
                <a:solidFill>
                  <a:srgbClr val="F3F4F6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两套数</a:t>
            </a:r>
            <a:r>
              <a:rPr lang="en-US" sz="1163">
                <a:solidFill>
                  <a:srgbClr val="F3F4F6"/>
                </a:solidFill>
                <a:latin typeface="Microsoft YaHei"/>
                <a:ea typeface="Microsoft YaHei"/>
              </a:rPr>
              <a:t>"</a:t>
            </a:r>
            <a:r>
              <a:rPr lang="zh-CN" sz="1163">
                <a:solidFill>
                  <a:srgbClr val="F3F4F6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02 / 14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240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2　为什么要有&lt;/Text&gt;&#10;            &lt;Text style={{ fontSize: 34, color: '#111827', fontWeight: 700, lineHeight: 1.2, marginTop: 6 }}&gt;六个老麻烦，六个新做法&lt;/Text&gt;&#10;        &lt;/Box&gt;&#10;        &lt;Box style={{ flex: 1 }} /&gt;&#10;        &lt;Text style={{ fontSize: 13, color: '#6B7280', marginTop: 34 }}&gt;同一个环节，换个干法&lt;/Text&gt;&#10;    &lt;/Box&gt;&#10;&#10;    &lt;Box style={{ flex: 1, flexDirection: 'column', paddingTop: 6 }}&gt;&#10;        {/* 表头 */}&#10;        &lt;Box style={{ flexDirection: 'row', alignItems: 'flex-end', paddingBottom: 10, borderBottom: '2px solid #111827' }}&gt;&#10;            &lt;Text style={{ fontSize: 12.5, color: '#9AA3AF', fontWeight: 700, letterSpacing: 2, width: 480 }}&gt;过 去 怎 么 干&lt;/Text&gt;&#10;            &lt;Box style={{ width: 60 }} /&gt;&#10;            &lt;Text style={{ fontSize: 12.5, color: '#C8102E', fontWeight: 700, letterSpacing: 2, width: 560 }}&gt;现 在 怎 么 做&lt;/Text&gt;&#10;        &lt;/Box&gt;&#10;&#10;        {[&#10;            ['派单在微信群里喊，谁接了记不清', '建单直接指派到车到人，接了没接一屏看清，超时未接自动标红'],&#10;            ['车到哪了，只能打电话问', '地图上看位置和轨迹：已走多少、还剩多少公里、大概几点到'],&#10;            ['到场时间全凭司机一张嘴', '装货地卸货地画了圈，车进圈出圈自动记时间，不用人核对'],&#10;            ['费用报多少给多少，凭证留在相册里', '一笔费用必须配照片，谁审的、谁打的款、什么时间，全留痕'],&#10;            ['月底对账要三天 Excel', '台账自动汇总，按车、按人、按分公司、按客户随筛随导'],&#10;            ['保养年检靠人脑记，过期才知道', '到期前提前提醒，超期车辆单独列出来，谁负责一目了然']&#10;        ].map((r, i) =&gt; (&#10;            &lt;Box key={i} style={{ flexDirection: 'row', alignItems: 'center', flex: 1, borderBottom: '1px solid #E7E9EE' }}&gt;&#10;                &lt;Box style={{ width: 480, flexDirection: 'row', alignItems: 'center', gap: 10 }}&gt;&#10;                    &lt;Box style={{ width: 14, height: 1, background: '#C7CCD6' }} /&gt;&#10;                    &lt;Text style={{ fontSize: 14.5, color: '#9AA3AF', lineHeight: 1.6 }}&gt;{r[0]}&lt;/Text&gt;&#10;                &lt;/Box&gt;&#10;                &lt;Box style={{ width: 60, alignItems: 'center' }}&gt;&#10;                    &lt;Text style={{ fontSize: 17, color: '#C8102E', fontWeight: 700 }}&gt;→&lt;/Text&gt;&#10;                &lt;/Box&gt;&#10;                &lt;Text style={{ fontSize: 14.5, color: '#111827', fontWeight: 600, lineHeight: 1.6, width: 560 }}&gt;{r[1]}&lt;/Text&gt;&#10;            &lt;/Box&gt;&#10;        ))}&#10;&#10;        &lt;Box style={{ marginTop: 18, flexDirection: 'row', alignItems: 'center', gap: 12 }}&gt;&#10;            &lt;Box style={{ width: 3, height: 18, background: '#C8102E' }} /&gt;&#10;            &lt;Text style={{ fontSize: 14.5, color: '#374151' }}&gt;&#10;                说白了就一句：把&lt;Text style={{ fontWeight: 700 }}&gt;靠人记、靠嘴问&lt;/Text&gt;的环节，换成&lt;Text style={{ fontWeight: 700 }}&gt;系统记、随时查&lt;/Text&gt;。&#10;            &lt;/Text&gt;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0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2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43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562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为什么要有</a:t>
            </a:r>
            <a:endParaRPr/>
          </a:p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六个老麻烦，六个新做法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10344150" y="704850"/>
            <a:ext cx="1238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同一个环节，换个干法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609600" y="1181100"/>
            <a:ext cx="10972800" cy="276225"/>
          </a:xfrm>
          <a:custGeom>
            <a:pathLst>
              <a:path w="1152" h="29">
                <a:moveTo>
                  <a:pt x="0" y="27"/>
                </a:moveTo>
                <a:lnTo>
                  <a:pt x="1152" y="27"/>
                </a:lnTo>
                <a:lnTo>
                  <a:pt x="1152" y="29"/>
                </a:lnTo>
                <a:lnTo>
                  <a:pt x="0" y="29"/>
                </a:ln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4572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150">
                <a:solidFill>
                  <a:srgbClr val="9AA3AF"/>
                </a:solidFill>
                <a:latin typeface="Microsoft YaHei"/>
                <a:ea typeface="Microsoft YaHei"/>
              </a:rPr>
              <a:t>过</a:t>
            </a:r>
            <a:r>
              <a:rPr lang="en-US" sz="938" b="1" spc="150">
                <a:solidFill>
                  <a:srgbClr val="9AA3A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9AA3AF"/>
                </a:solidFill>
                <a:latin typeface="Microsoft YaHei"/>
                <a:ea typeface="Microsoft YaHei"/>
              </a:rPr>
              <a:t>去</a:t>
            </a:r>
            <a:r>
              <a:rPr lang="en-US" sz="938" b="1" spc="150">
                <a:solidFill>
                  <a:srgbClr val="9AA3A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9AA3AF"/>
                </a:solidFill>
                <a:latin typeface="Microsoft YaHei"/>
                <a:ea typeface="Microsoft YaHei"/>
              </a:rPr>
              <a:t>怎</a:t>
            </a:r>
            <a:r>
              <a:rPr lang="en-US" sz="938" b="1" spc="150">
                <a:solidFill>
                  <a:srgbClr val="9AA3A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9AA3AF"/>
                </a:solidFill>
                <a:latin typeface="Microsoft YaHei"/>
                <a:ea typeface="Microsoft YaHei"/>
              </a:rPr>
              <a:t>么</a:t>
            </a:r>
            <a:r>
              <a:rPr lang="en-US" sz="938" b="1" spc="150">
                <a:solidFill>
                  <a:srgbClr val="9AA3A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9AA3AF"/>
                </a:solidFill>
                <a:latin typeface="Microsoft YaHei"/>
                <a:ea typeface="Microsoft YaHei"/>
              </a:rPr>
              <a:t>干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5753100" y="1181100"/>
            <a:ext cx="5334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现</a:t>
            </a:r>
            <a:r>
              <a:rPr lang="en-US" sz="938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在</a:t>
            </a:r>
            <a:r>
              <a:rPr lang="en-US" sz="938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怎</a:t>
            </a:r>
            <a:r>
              <a:rPr lang="en-US" sz="938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么</a:t>
            </a:r>
            <a:r>
              <a:rPr lang="en-US" sz="938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做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609600" y="1438275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50" name=""/>
          <p:cNvSpPr/>
          <p:nvPr/>
        </p:nvSpPr>
        <p:spPr>
          <a:xfrm rot="0" flipH="0" flipV="0">
            <a:off x="609600" y="1819275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838200" y="1685925"/>
            <a:ext cx="207645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派单在微信群里喊，谁接了记不清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5391150" y="172402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5753100" y="168592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建单直接指派到车到人，接了没接一屏看清，超时未接自动标红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609600" y="2209800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55" name=""/>
          <p:cNvSpPr/>
          <p:nvPr/>
        </p:nvSpPr>
        <p:spPr>
          <a:xfrm rot="0" flipH="0" flipV="0">
            <a:off x="609600" y="2590800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838200" y="2457450"/>
            <a:ext cx="152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车到哪了，只能打电话问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5391150" y="249555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5753100" y="245745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地图上看位置和轨迹：已走多少、还剩多少公里、大概几点到</a:t>
            </a:r>
            <a:endParaRPr/>
          </a:p>
        </p:txBody>
      </p:sp>
      <p:sp>
        <p:nvSpPr>
          <p:cNvPr id="259" name=""/>
          <p:cNvSpPr/>
          <p:nvPr/>
        </p:nvSpPr>
        <p:spPr>
          <a:xfrm rot="0" flipH="0" flipV="0">
            <a:off x="609600" y="2981325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60" name=""/>
          <p:cNvSpPr/>
          <p:nvPr/>
        </p:nvSpPr>
        <p:spPr>
          <a:xfrm rot="0" flipH="0" flipV="0">
            <a:off x="609600" y="3362325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838200" y="3228975"/>
            <a:ext cx="152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到场时间全凭司机一张嘴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5391150" y="32670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753100" y="322897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装货地卸货地画了圈，车进圈出圈自动记时间，不用人核对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752850"/>
            <a:ext cx="10972800" cy="771525"/>
          </a:xfrm>
          <a:custGeom>
            <a:pathLst>
              <a:path w="1152" h="81">
                <a:moveTo>
                  <a:pt x="0" y="80"/>
                </a:moveTo>
                <a:lnTo>
                  <a:pt x="1152" y="80"/>
                </a:lnTo>
                <a:lnTo>
                  <a:pt x="1152" y="81"/>
                </a:lnTo>
                <a:lnTo>
                  <a:pt x="0" y="81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609600" y="4133850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838200" y="4000500"/>
            <a:ext cx="22098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费用报多少给多少，凭证留在相册里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5391150" y="402907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5753100" y="400050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一笔费用必须配照片，谁审的、谁打的款、什么时间，全留痕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609600" y="4514850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70" name=""/>
          <p:cNvSpPr/>
          <p:nvPr/>
        </p:nvSpPr>
        <p:spPr>
          <a:xfrm rot="0" flipH="0" flipV="0">
            <a:off x="609600" y="4895850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838200" y="4762500"/>
            <a:ext cx="134302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月底对账要三天</a:t>
            </a:r>
            <a:r>
              <a:rPr lang="en-US" sz="1088">
                <a:solidFill>
                  <a:srgbClr val="9AA3AF"/>
                </a:solidFill>
                <a:latin typeface="Microsoft YaHei"/>
                <a:ea typeface="Microsoft YaHei"/>
              </a:rPr>
              <a:t xml:space="preserve"> Excel</a:t>
            </a:r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5391150" y="4800600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5753100" y="4762500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台账自动汇总，按车、按人、按分公司、按客户随筛随导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09600" y="5286375"/>
            <a:ext cx="10972800" cy="781050"/>
          </a:xfrm>
          <a:custGeom>
            <a:pathLst>
              <a:path w="1152" h="82">
                <a:moveTo>
                  <a:pt x="0" y="81"/>
                </a:moveTo>
                <a:lnTo>
                  <a:pt x="1152" y="81"/>
                </a:lnTo>
                <a:lnTo>
                  <a:pt x="1152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275" name=""/>
          <p:cNvSpPr/>
          <p:nvPr/>
        </p:nvSpPr>
        <p:spPr>
          <a:xfrm rot="0" flipH="0" flipV="0">
            <a:off x="609600" y="5667375"/>
            <a:ext cx="133350" cy="9525"/>
          </a:xfrm>
          <a:prstGeom prst="rect">
            <a:avLst/>
          </a:prstGeom>
          <a:solidFill>
            <a:srgbClr val="C7CCD6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838200" y="5534025"/>
            <a:ext cx="1933575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>
                <a:solidFill>
                  <a:srgbClr val="9AA3AF"/>
                </a:solidFill>
                <a:latin typeface="Microsoft YaHei"/>
                <a:ea typeface="Microsoft YaHei"/>
              </a:rPr>
              <a:t>保养年检靠人脑记，过期才知道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5391150" y="5572125"/>
            <a:ext cx="1619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75" b="1">
                <a:solidFill>
                  <a:srgbClr val="C8102E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78" name="" descr="{&quot;isTemplate&quot;:true,&quot;type&quot;:&quot;text&quot;}"/>
          <p:cNvSpPr txBox="1"/>
          <p:nvPr/>
        </p:nvSpPr>
        <p:spPr>
          <a:xfrm rot="0" flipH="0" flipV="0">
            <a:off x="5753100" y="5534025"/>
            <a:ext cx="5334000" cy="2667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88" b="1">
                <a:solidFill>
                  <a:srgbClr val="111827"/>
                </a:solidFill>
                <a:latin typeface="Microsoft YaHei"/>
                <a:ea typeface="Microsoft YaHei"/>
              </a:rPr>
              <a:t>到期前提前提醒，超期车辆单独列出来，谁负责一目了然</a:t>
            </a:r>
            <a:endParaRPr/>
          </a:p>
        </p:txBody>
      </p:sp>
      <p:sp>
        <p:nvSpPr>
          <p:cNvPr id="279" name=""/>
          <p:cNvSpPr/>
          <p:nvPr/>
        </p:nvSpPr>
        <p:spPr>
          <a:xfrm rot="0" flipH="0" flipV="0">
            <a:off x="609600" y="6229350"/>
            <a:ext cx="28575" cy="1714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52475" y="62293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说白了就一句：把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靠人记、靠嘴问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的环节，换成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系统记、随时查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03 / 14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style={{ width: 1280, height: 720, background: '#F4F5F7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3　怎么跑起来&lt;/Text&gt;&#10;            &lt;Text style={{ fontSize: 34, color: '#111827', fontWeight: 700, lineHeight: 1.2, marginTop: 6 }}&gt;一趟货，四段路，十步闭环&lt;/Text&gt;&#10;        &lt;/Box&gt;&#10;        &lt;Box style={{ flex: 1 }} /&gt;&#10;        &lt;Text style={{ fontSize: 13, color: '#6B7280', marginTop: 34 }}&gt;每一步都有责任人和时间&lt;/Text&gt;&#10;    &lt;/Box&gt;&#10;&#10;    &lt;Box style={{ flexDirection: 'row', gap: 14, height: 336 }}&gt;&#10;        {[&#10;            { n: '01', t: '调度', who: '调度员在电脑上', out: '一张可执行的运单', items: ['建单：货名、装货地、卸货地', '指派：指定车辆与司机', '约定：装货与送达时间', '常驻任务：一趟排好按趟走'] },&#10;            { n: '02', t: '运输', who: '司机在手机上', out: '接单、装车、发车三条记录', items: ['接单：一键确认接这趟', '装车：到装货地拍照打卡', '发车：确认发车，途中位置可见', '极简或详细，走单方式可配'] },&#10;            { n: '03', t: '到场', who: '司机与收货方', out: '到场时间与签收结果', items: ['到达：进卸货地范围自动打卡', '签收：卸完确认，状态收口', '异常：货损、压车拍照上报', '超时未到，管理端自动提醒'] },&#10;            { n: '04', t: '结算', who: '财务在手机上', out: '一笔有凭证的付款', items: ['上报：费用带凭证提交', '审批：按金额分级逐级放行', '打款：付款留回执，自动进台账', '对账：按车按人按客户可筛'] }&#10;        ].map((c, i) =&gt; (&#10;            &lt;Box key={i} style={{ flex: 1, background: '#FFFFFF', borderRadius: 6, flexDirection: 'column', padding: '20px 20px 18px 20px', position: 'relative', overflow: 'hidden' }}&gt;&#10;                &lt;Box style={{ position: 'absolute', right: 8, top: 46 }}&gt;&#10;                    &lt;Text style={{ fontSize: 92, color: '#111827', fontWeight: 800, opacity: 0.05, lineHeight: 1.0 }}&gt;{c.n}&lt;/Text&gt;&#10;                &lt;/Box&gt;&#10;                &lt;Box style={{ flexDirection: 'row', alignItems: 'baseline', gap: 8 }}&gt;&#10;                    &lt;Text style={{ fontSize: 12, color: '#C8102E', fontWeight: 800, letterSpacing: 1 }}&gt;{c.n}&lt;/Text&gt;&#10;                    &lt;Text style={{ fontSize: 21, color: '#111827', fontWeight: 700, letterSpacing: 2 }}&gt;{c.t}&lt;/Text&gt;&#10;                &lt;/Box&gt;&#10;                &lt;Box style={{ width: 28, height: 2, background: '#C8102E', marginTop: 10, marginBottom: 12 }} /&gt;&#10;                &lt;Box style={{ flexDirection: 'column', gap: 10 }}&gt;&#10;                    {c.items.map((it, j) =&gt; (&#10;                        &lt;Box key={j} style={{ flexDirection: 'row', alignItems: 'flex-start', gap: 7 }}&gt;&#10;                            &lt;Text style={{ fontSize: 10.5, color: '#C8102E', fontWeight: 800, marginTop: 4 }}&gt;{'0' + (j + 1)}&lt;/Text&gt;&#10;                            &lt;Text style={{ fontSize: 13, color: '#374151', lineHeight: 1.6, width: 196 }}&gt;{it}&lt;/Text&gt;&#10;                        &lt;/Box&gt;&#10;                    ))}&#10;                &lt;/Box&gt;&#10;                &lt;Box style={{ flex: 1 }} /&gt;&#10;                &lt;Box style={{ paddingTop: 10, borderTop: '1px dashed #DDE1E8' }}&gt;&#10;                    &lt;Text style={{ fontSize: 11, color: '#9AA3AF', fontWeight: 700, letterSpacing: 1 }}&gt;这一步产出&lt;/Text&gt;&#10;                    &lt;Text style={{ fontSize: 12.5, color: '#111827', fontWeight: 700, lineHeight: 1.5, marginTop: 3 }}&gt;{c.out}&lt;/Text&gt;&#10;                &lt;/Box&gt;&#10;            &lt;/Box&gt;&#10;        ))}&#10;    &lt;/Box&gt;&#10;&#10;    &lt;Box style={{ flex: 1, marginTop: 14, background: '#FFFFFF', borderRadius: 6, padding: '16px 22px', flexDirection: 'column' }}&gt;&#10;        &lt;Box style={{ flexDirection: 'row', alignItems: 'center' }}&gt;&#10;            &lt;Text style={{ fontSize: 12.5, color: '#C8102E', fontWeight: 700, letterSpacing: 2 }}&gt;运单状态怎么走&lt;/Text&gt;&#10;            &lt;Box style={{ flex: 1 }} /&gt;&#10;            &lt;Text style={{ fontSize: 11.5, color: '#9AA3AF' }}&gt;状态自己往前走，不靠人催；谁改的、什么时候改的，都留着&lt;/Text&gt;&#10;        &lt;/Box&gt;&#10;        &lt;Box style={{ flexDirection: 'row', alignItems: 'center', gap: 6, marginTop: 12 }}&gt;&#10;            {['待接单', '待装车', '装车完成', '已发车', '已到达', '已完成'].map((s, i) =&gt; (&#10;                &lt;Box key={i} style={{ flexDirection: 'row', alignItems: 'center', gap: 6 }}&gt;&#10;                    &lt;Box style={{ padding: '7px 14px', borderRadius: 3, background: i === 5 ? '#C8102E' : '#EDEEF1' }}&gt;&#10;                        &lt;Text style={{ fontSize: 12.5, color: i === 5 ? '#FFFFFF' : '#374151', fontWeight: 700 }}&gt;{s}&lt;/Text&gt;&#10;                    &lt;/Box&gt;&#10;                    {i &lt; 5 ? &lt;Text style={{ fontSize: 12, color: '#C7CCD6' }}&gt;›&lt;/Text&gt; : null}&#10;                &lt;/Box&gt;&#10;            ))}&#10;            &lt;Box style={{ width: 22 }} /&gt;&#10;            &lt;Text style={{ fontSize: 11.5, color: '#9AA3AF' }}&gt;旁支&lt;/Text&gt;&#10;            &lt;Box style={{ padding: '7px 12px', borderRadius: 3, border: '1px solid #E0E4EA' }}&gt;&#10;                &lt;Text style={{ fontSize: 12, color: '#6B7280' }}&gt;待重新指派&lt;/Text&gt;&#10;            &lt;/Box&gt;&#10;            &lt;Box style={{ padding: '7px 12px', borderRadius: 3, border: '1px solid #E0E4EA' }}&gt;&#10;                &lt;Text style={{ fontSize: 12, color: '#6B7280' }}&gt;已取消&lt;/Text&gt;&#10;            &lt;/Box&gt;&#10;        &lt;/Box&gt;&#10;        &lt;Box style={{ height: 1, background: '#EDEEF1', marginTop: 14 }} /&gt;&#10;        &lt;Box style={{ flexDirection: 'row', gap: 20, marginTop: 12 }}&gt;&#10;            {[['早上看一眼就知道', '今天该发几趟、哪几趟卡住了，首页一目了然'], ['卡点自己会亮', '超时没接单、超时没到场，红点直接推给负责人'], ['有争议能倒查', '每一步谁做的、几点做的、传了什么照片，都在']].map((it, i) =&gt; (&#10;                &lt;Box key={i} style={{ flex: 1, flexDirection: 'row', gap: 8 }}&gt;&#10;                    &lt;Box style={{ width: 3, background: '#C8102E', marginTop: 2 }} /&gt;&#10;                    &lt;Box style={{ flexDirection: 'column' }}&gt;&#10;                        &lt;Text style={{ fontSize: 12.5, color: '#111827', fontWeight: 700 }}&gt;{it[0]}&lt;/Text&gt;&#10;                        &lt;Text style={{ fontSize: 11.5, color: '#6B7280', lineHeight: 1.6, marginTop: 4 }}&gt;{it[1]}&lt;/Text&gt;&#10;                    &lt;/Box&gt;&#10;                &lt;/Box&gt;&#10;            ))}&#10;        &lt;/Box&gt;&#10;    &lt;/Box&gt;&#10;&#10;    &lt;Box style={{ height: 24, flexDirection: 'row', alignItems: 'center', marginTop: 8 }}&gt;&#10;        &lt;Text style={{ fontSize: 12, color: '#9AA3AF' }}&gt;车队一体化运营平台&lt;/Text&gt;&#10;        &lt;Box style={{ flex: 1 }} /&gt;&#10;        &lt;Text style={{ fontSize: 12, color: '#9AA3AF' }}&gt;0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怎么跑起来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一趟货，四段路，十步闭环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10220325" y="704850"/>
            <a:ext cx="1362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每一步都有责任人和时间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09600" y="4457700"/>
            <a:ext cx="10972800" cy="1866900"/>
          </a:xfrm>
          <a:prstGeom prst="roundRect">
            <a:avLst>
              <a:gd name="adj" fmla="val 3061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819150" y="4610100"/>
            <a:ext cx="9715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150">
                <a:solidFill>
                  <a:srgbClr val="C8102E"/>
                </a:solidFill>
                <a:latin typeface="Microsoft YaHei"/>
                <a:ea typeface="Microsoft YaHei"/>
              </a:rPr>
              <a:t>运单状态怎么走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8410575" y="4619625"/>
            <a:ext cx="2962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状态自己往前走，不靠人催；谁改的、什么时候改的，都留着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819150" y="4867275"/>
            <a:ext cx="628650" cy="276225"/>
          </a:xfrm>
          <a:prstGeom prst="roundRect">
            <a:avLst>
              <a:gd name="adj" fmla="val 10345"/>
            </a:avLst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52500" y="49339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74151"/>
                </a:solidFill>
                <a:latin typeface="Microsoft YaHei"/>
                <a:ea typeface="Microsoft YaHei"/>
              </a:rPr>
              <a:t>待接单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1504950" y="4933950"/>
            <a:ext cx="3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7CC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1600200" y="4867275"/>
            <a:ext cx="628650" cy="276225"/>
          </a:xfrm>
          <a:prstGeom prst="roundRect">
            <a:avLst>
              <a:gd name="adj" fmla="val 10345"/>
            </a:avLst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1733550" y="49339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74151"/>
                </a:solidFill>
                <a:latin typeface="Microsoft YaHei"/>
                <a:ea typeface="Microsoft YaHei"/>
              </a:rPr>
              <a:t>待装车</a:t>
            </a:r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2286000" y="4933950"/>
            <a:ext cx="3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7CC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2381250" y="4867275"/>
            <a:ext cx="742950" cy="276225"/>
          </a:xfrm>
          <a:prstGeom prst="roundRect">
            <a:avLst>
              <a:gd name="adj" fmla="val 10345"/>
            </a:avLst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2514600" y="4933950"/>
            <a:ext cx="47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74151"/>
                </a:solidFill>
                <a:latin typeface="Microsoft YaHei"/>
                <a:ea typeface="Microsoft YaHei"/>
              </a:rPr>
              <a:t>装车完成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3181350" y="4933950"/>
            <a:ext cx="3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7CC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3276600" y="4867275"/>
            <a:ext cx="628650" cy="276225"/>
          </a:xfrm>
          <a:prstGeom prst="roundRect">
            <a:avLst>
              <a:gd name="adj" fmla="val 10345"/>
            </a:avLst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3409950" y="49339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74151"/>
                </a:solidFill>
                <a:latin typeface="Microsoft YaHei"/>
                <a:ea typeface="Microsoft YaHei"/>
              </a:rPr>
              <a:t>已发车</a:t>
            </a:r>
            <a:endParaRPr/>
          </a:p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3962400" y="4933950"/>
            <a:ext cx="3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7CC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4" name=""/>
          <p:cNvSpPr/>
          <p:nvPr/>
        </p:nvSpPr>
        <p:spPr>
          <a:xfrm rot="0" flipH="0" flipV="0">
            <a:off x="4057650" y="4867275"/>
            <a:ext cx="628650" cy="276225"/>
          </a:xfrm>
          <a:prstGeom prst="roundRect">
            <a:avLst>
              <a:gd name="adj" fmla="val 10345"/>
            </a:avLst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191000" y="49339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74151"/>
                </a:solidFill>
                <a:latin typeface="Microsoft YaHei"/>
                <a:ea typeface="Microsoft YaHei"/>
              </a:rPr>
              <a:t>已到达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743450" y="4933950"/>
            <a:ext cx="38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900">
                <a:solidFill>
                  <a:srgbClr val="C7CCD6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4838700" y="4867275"/>
            <a:ext cx="628650" cy="276225"/>
          </a:xfrm>
          <a:prstGeom prst="roundRect">
            <a:avLst>
              <a:gd name="adj" fmla="val 10345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4972050" y="4933950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FFFFFF"/>
                </a:solidFill>
                <a:latin typeface="Microsoft YaHei"/>
                <a:ea typeface="Microsoft YaHei"/>
              </a:rPr>
              <a:t>已完成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5791200" y="4943475"/>
            <a:ext cx="2190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旁支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6067425" y="4867275"/>
            <a:ext cx="800100" cy="276225"/>
          </a:xfrm>
          <a:prstGeom prst="roundRect">
            <a:avLst>
              <a:gd name="adj" fmla="val 10345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6181725" y="493395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待重新指派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6924675" y="4867275"/>
            <a:ext cx="571500" cy="276225"/>
          </a:xfrm>
          <a:prstGeom prst="roundRect">
            <a:avLst>
              <a:gd name="adj" fmla="val 10345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7038975" y="4933950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已取消</a:t>
            </a:r>
            <a:endParaRPr/>
          </a:p>
        </p:txBody>
      </p:sp>
      <p:sp>
        <p:nvSpPr>
          <p:cNvPr id="314" name=""/>
          <p:cNvSpPr/>
          <p:nvPr/>
        </p:nvSpPr>
        <p:spPr>
          <a:xfrm rot="0" flipH="0" flipV="0">
            <a:off x="819150" y="5276850"/>
            <a:ext cx="10553700" cy="9525"/>
          </a:xfrm>
          <a:prstGeom prst="rect">
            <a:avLst/>
          </a:prstGeom>
          <a:solidFill>
            <a:srgbClr val="EDEEF1"/>
          </a:solidFill>
          <a:ln/>
        </p:spPr>
        <p:txBody>
          <a:bodyPr/>
          <a:p/>
        </p:txBody>
      </p:sp>
      <p:sp>
        <p:nvSpPr>
          <p:cNvPr id="315" name=""/>
          <p:cNvSpPr/>
          <p:nvPr/>
        </p:nvSpPr>
        <p:spPr>
          <a:xfrm rot="0" flipH="0" flipV="0">
            <a:off x="819150" y="5419725"/>
            <a:ext cx="28575" cy="381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23925" y="5400675"/>
            <a:ext cx="21907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早上看一眼就知道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923925" y="5581650"/>
            <a:ext cx="219075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今天该发几趟、哪几趟卡住了，首页一目了然</a:t>
            </a:r>
            <a:endParaRPr/>
          </a:p>
        </p:txBody>
      </p:sp>
      <p:sp>
        <p:nvSpPr>
          <p:cNvPr id="318" name=""/>
          <p:cNvSpPr/>
          <p:nvPr/>
        </p:nvSpPr>
        <p:spPr>
          <a:xfrm rot="0" flipH="0" flipV="0">
            <a:off x="4400550" y="5419725"/>
            <a:ext cx="28575" cy="381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4505325" y="5400675"/>
            <a:ext cx="2305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卡点自己会亮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4505325" y="5581650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超时没接单、超时没到场，红点直接推给负责人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7981950" y="5419725"/>
            <a:ext cx="28575" cy="3810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8086725" y="5400675"/>
            <a:ext cx="2305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有争议能倒查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8086725" y="5581650"/>
            <a:ext cx="230505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每一步谁做的、几点做的、传了什么照片，都在</a:t>
            </a:r>
            <a:endParaRPr/>
          </a:p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04 / 14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09600" y="1123950"/>
            <a:ext cx="2647950" cy="32004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00100" y="1314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1028700" y="1314450"/>
            <a:ext cx="438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11827"/>
                </a:solidFill>
                <a:latin typeface="Microsoft YaHei"/>
                <a:ea typeface="Microsoft YaHei"/>
              </a:rPr>
              <a:t>调度</a:t>
            </a:r>
            <a:endParaRPr/>
          </a:p>
        </p:txBody>
      </p:sp>
      <p:sp>
        <p:nvSpPr>
          <p:cNvPr id="329" name=""/>
          <p:cNvSpPr/>
          <p:nvPr/>
        </p:nvSpPr>
        <p:spPr>
          <a:xfrm rot="0" flipH="0" flipV="0">
            <a:off x="800100" y="1657350"/>
            <a:ext cx="266700" cy="190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00100" y="182880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981075" y="179070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建单：货名、装货地、卸货地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800100" y="21621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981075" y="212407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指派：指定车辆与司机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00100" y="24955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981075" y="245745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约定：装货与送达时间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00100" y="28289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981075" y="279082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常驻任务：一趟排好按趟走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800100" y="3667125"/>
            <a:ext cx="2266950" cy="495300"/>
          </a:xfrm>
          <a:custGeom>
            <a:pathLst>
              <a:path w="238" h="52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DDE1E8"/>
          </a:solidFill>
          <a:ln/>
        </p:spPr>
        <p:txBody>
          <a:bodyPr/>
          <a:p/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800100" y="3771900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9AA3AF"/>
                </a:solidFill>
                <a:latin typeface="Microsoft YaHei"/>
                <a:ea typeface="Microsoft YaHei"/>
              </a:rPr>
              <a:t>这一步产出</a:t>
            </a:r>
            <a:endParaRPr/>
          </a:p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00100" y="3933825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一张可执行的运单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2200275" y="1562100"/>
            <a:ext cx="98107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11827">
                    <a:alpha val="5000"/>
                  </a:srgbClr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3390900" y="1123950"/>
            <a:ext cx="2638425" cy="3200400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3581400" y="1314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3810000" y="1314450"/>
            <a:ext cx="438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11827"/>
                </a:solidFill>
                <a:latin typeface="Microsoft YaHei"/>
                <a:ea typeface="Microsoft YaHei"/>
              </a:rPr>
              <a:t>运输</a:t>
            </a:r>
            <a:endParaRPr/>
          </a:p>
        </p:txBody>
      </p:sp>
      <p:sp>
        <p:nvSpPr>
          <p:cNvPr id="345" name=""/>
          <p:cNvSpPr/>
          <p:nvPr/>
        </p:nvSpPr>
        <p:spPr>
          <a:xfrm rot="0" flipH="0" flipV="0">
            <a:off x="3581400" y="1657350"/>
            <a:ext cx="266700" cy="190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3581400" y="182880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3762375" y="179070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接单：一键确认接这趟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3581400" y="21621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3762375" y="212407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装车：到装货地拍照打卡</a:t>
            </a:r>
            <a:endParaRPr/>
          </a:p>
        </p:txBody>
      </p:sp>
      <p:sp>
        <p:nvSpPr>
          <p:cNvPr id="350" name="" descr="{&quot;isTemplate&quot;:true,&quot;type&quot;:&quot;text&quot;}"/>
          <p:cNvSpPr txBox="1"/>
          <p:nvPr/>
        </p:nvSpPr>
        <p:spPr>
          <a:xfrm rot="0" flipH="0" flipV="0">
            <a:off x="3581400" y="24955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3762375" y="245745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发车：确认发车，途中位置可见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3581400" y="28289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3762375" y="279082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极简或详细，走单方式可配</a:t>
            </a:r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3581400" y="3667125"/>
            <a:ext cx="2257425" cy="495300"/>
          </a:xfrm>
          <a:custGeom>
            <a:pathLst>
              <a:path w="237" h="52">
                <a:moveTo>
                  <a:pt x="0" y="0"/>
                </a:moveTo>
                <a:lnTo>
                  <a:pt x="237" y="0"/>
                </a:lnTo>
                <a:lnTo>
                  <a:pt x="237" y="1"/>
                </a:lnTo>
                <a:lnTo>
                  <a:pt x="0" y="1"/>
                </a:lnTo>
                <a:close/>
              </a:path>
            </a:pathLst>
          </a:custGeom>
          <a:solidFill>
            <a:srgbClr val="DDE1E8"/>
          </a:solidFill>
          <a:ln/>
        </p:spPr>
        <p:txBody>
          <a:bodyPr/>
          <a:p/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3581400" y="37719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9AA3AF"/>
                </a:solidFill>
                <a:latin typeface="Microsoft YaHei"/>
                <a:ea typeface="Microsoft YaHei"/>
              </a:rPr>
              <a:t>这一步产出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3581400" y="3933825"/>
            <a:ext cx="2257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接单、装车、发车三条记录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4972050" y="1562100"/>
            <a:ext cx="98107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11827">
                    <a:alpha val="5000"/>
                  </a:srgbClr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58" name=""/>
          <p:cNvSpPr/>
          <p:nvPr/>
        </p:nvSpPr>
        <p:spPr>
          <a:xfrm rot="0" flipH="0" flipV="0">
            <a:off x="6162675" y="1123950"/>
            <a:ext cx="2647950" cy="3200400"/>
          </a:xfrm>
          <a:prstGeom prst="roundRect">
            <a:avLst>
              <a:gd name="adj" fmla="val 2158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6353175" y="1314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6581775" y="1314450"/>
            <a:ext cx="438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11827"/>
                </a:solidFill>
                <a:latin typeface="Microsoft YaHei"/>
                <a:ea typeface="Microsoft YaHei"/>
              </a:rPr>
              <a:t>到场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353175" y="1657350"/>
            <a:ext cx="266700" cy="190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62" name="" descr="{&quot;isTemplate&quot;:true,&quot;type&quot;:&quot;text&quot;}"/>
          <p:cNvSpPr txBox="1"/>
          <p:nvPr/>
        </p:nvSpPr>
        <p:spPr>
          <a:xfrm rot="0" flipH="0" flipV="0">
            <a:off x="6353175" y="182880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6534150" y="179070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到达：进卸货地范围自动打卡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353175" y="21621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6534150" y="212407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签收：卸完确认，状态收口</a:t>
            </a:r>
            <a:endParaRPr/>
          </a:p>
        </p:txBody>
      </p:sp>
      <p:sp>
        <p:nvSpPr>
          <p:cNvPr id="366" name="" descr="{&quot;isTemplate&quot;:true,&quot;type&quot;:&quot;text&quot;}"/>
          <p:cNvSpPr txBox="1"/>
          <p:nvPr/>
        </p:nvSpPr>
        <p:spPr>
          <a:xfrm rot="0" flipH="0" flipV="0">
            <a:off x="6353175" y="24955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6534150" y="245745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异常：货损、压车拍照上报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6353175" y="28289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534150" y="279082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超时未到，管理端自动提醒</a:t>
            </a:r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353175" y="3667125"/>
            <a:ext cx="2266950" cy="495300"/>
          </a:xfrm>
          <a:custGeom>
            <a:pathLst>
              <a:path w="238" h="52">
                <a:moveTo>
                  <a:pt x="0" y="0"/>
                </a:moveTo>
                <a:lnTo>
                  <a:pt x="238" y="0"/>
                </a:lnTo>
                <a:lnTo>
                  <a:pt x="238" y="1"/>
                </a:lnTo>
                <a:lnTo>
                  <a:pt x="0" y="1"/>
                </a:lnTo>
                <a:close/>
              </a:path>
            </a:pathLst>
          </a:custGeom>
          <a:solidFill>
            <a:srgbClr val="DDE1E8"/>
          </a:solidFill>
          <a:ln/>
        </p:spPr>
        <p:txBody>
          <a:bodyPr/>
          <a:p/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6353175" y="3771900"/>
            <a:ext cx="2266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9AA3AF"/>
                </a:solidFill>
                <a:latin typeface="Microsoft YaHei"/>
                <a:ea typeface="Microsoft YaHei"/>
              </a:rPr>
              <a:t>这一步产出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6353175" y="3933825"/>
            <a:ext cx="226695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到场时间与签收结果</a:t>
            </a:r>
            <a:endParaRPr/>
          </a:p>
        </p:txBody>
      </p:sp>
      <p:sp>
        <p:nvSpPr>
          <p:cNvPr id="373" name="" descr="{&quot;isTemplate&quot;:true,&quot;type&quot;:&quot;text&quot;}"/>
          <p:cNvSpPr txBox="1"/>
          <p:nvPr/>
        </p:nvSpPr>
        <p:spPr>
          <a:xfrm rot="0" flipH="0" flipV="0">
            <a:off x="7753350" y="1562100"/>
            <a:ext cx="98107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11827">
                    <a:alpha val="5000"/>
                  </a:srgbClr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8943975" y="1123950"/>
            <a:ext cx="2638425" cy="3200400"/>
          </a:xfrm>
          <a:prstGeom prst="roundRect">
            <a:avLst>
              <a:gd name="adj" fmla="val 216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9134475" y="1314450"/>
            <a:ext cx="152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75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363075" y="1314450"/>
            <a:ext cx="438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 spc="150">
                <a:solidFill>
                  <a:srgbClr val="111827"/>
                </a:solidFill>
                <a:latin typeface="Microsoft YaHei"/>
                <a:ea typeface="Microsoft YaHei"/>
              </a:rPr>
              <a:t>结算</a:t>
            </a:r>
            <a:endParaRPr/>
          </a:p>
        </p:txBody>
      </p:sp>
      <p:sp>
        <p:nvSpPr>
          <p:cNvPr id="377" name=""/>
          <p:cNvSpPr/>
          <p:nvPr/>
        </p:nvSpPr>
        <p:spPr>
          <a:xfrm rot="0" flipH="0" flipV="0">
            <a:off x="9134475" y="1657350"/>
            <a:ext cx="266700" cy="190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78" name="" descr="{&quot;isTemplate&quot;:true,&quot;type&quot;:&quot;text&quot;}"/>
          <p:cNvSpPr txBox="1"/>
          <p:nvPr/>
        </p:nvSpPr>
        <p:spPr>
          <a:xfrm rot="0" flipH="0" flipV="0">
            <a:off x="9134475" y="182880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79" name="" descr="{&quot;isTemplate&quot;:true,&quot;type&quot;:&quot;text&quot;}"/>
          <p:cNvSpPr txBox="1"/>
          <p:nvPr/>
        </p:nvSpPr>
        <p:spPr>
          <a:xfrm rot="0" flipH="0" flipV="0">
            <a:off x="9315450" y="179070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上报：费用带凭证提交</a:t>
            </a:r>
            <a:endParaRPr/>
          </a:p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134475" y="216217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9315450" y="212407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审批：按金额分级逐级放行</a:t>
            </a:r>
            <a:endParaRPr/>
          </a:p>
        </p:txBody>
      </p:sp>
      <p:sp>
        <p:nvSpPr>
          <p:cNvPr id="382" name="" descr="{&quot;isTemplate&quot;:true,&quot;type&quot;:&quot;text&quot;}"/>
          <p:cNvSpPr txBox="1"/>
          <p:nvPr/>
        </p:nvSpPr>
        <p:spPr>
          <a:xfrm rot="0" flipH="0" flipV="0">
            <a:off x="9134475" y="2495550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9315450" y="2457450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打款：付款留回执，自动进台账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134475" y="2828925"/>
            <a:ext cx="1143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9315450" y="2790825"/>
            <a:ext cx="186690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374151"/>
                </a:solidFill>
                <a:latin typeface="Microsoft YaHei"/>
                <a:ea typeface="Microsoft YaHei"/>
              </a:rPr>
              <a:t>对账：按车按人按客户可筛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9134475" y="3667125"/>
            <a:ext cx="2257425" cy="495300"/>
          </a:xfrm>
          <a:custGeom>
            <a:pathLst>
              <a:path w="237" h="52">
                <a:moveTo>
                  <a:pt x="0" y="0"/>
                </a:moveTo>
                <a:lnTo>
                  <a:pt x="237" y="0"/>
                </a:lnTo>
                <a:lnTo>
                  <a:pt x="237" y="1"/>
                </a:lnTo>
                <a:lnTo>
                  <a:pt x="0" y="1"/>
                </a:lnTo>
                <a:close/>
              </a:path>
            </a:pathLst>
          </a:custGeom>
          <a:solidFill>
            <a:srgbClr val="DDE1E8"/>
          </a:solidFill>
          <a:ln/>
        </p:spPr>
        <p:txBody>
          <a:bodyPr/>
          <a:p/>
        </p:txBody>
      </p:sp>
      <p:sp>
        <p:nvSpPr>
          <p:cNvPr id="387" name="" descr="{&quot;isTemplate&quot;:true,&quot;type&quot;:&quot;text&quot;}"/>
          <p:cNvSpPr txBox="1"/>
          <p:nvPr/>
        </p:nvSpPr>
        <p:spPr>
          <a:xfrm rot="0" flipH="0" flipV="0">
            <a:off x="9134475" y="3771900"/>
            <a:ext cx="22574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 spc="75">
                <a:solidFill>
                  <a:srgbClr val="9AA3AF"/>
                </a:solidFill>
                <a:latin typeface="Microsoft YaHei"/>
                <a:ea typeface="Microsoft YaHei"/>
              </a:rPr>
              <a:t>这一步产出</a:t>
            </a:r>
            <a:endParaRPr/>
          </a:p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134475" y="3933825"/>
            <a:ext cx="2257425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11827"/>
                </a:solidFill>
                <a:latin typeface="Microsoft YaHei"/>
                <a:ea typeface="Microsoft YaHei"/>
              </a:rPr>
              <a:t>一笔有凭证的付款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10525125" y="1562100"/>
            <a:ext cx="981075" cy="10572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900" b="1">
                <a:solidFill>
                  <a:srgbClr val="111827">
                    <a:alpha val="5000"/>
                  </a:srgbClr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</p:spTree>
  </p:cSld>
</p:sld>
</file>

<file path=ppt/slides/slide5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390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4　管理端 · 运输管理&lt;/Text&gt;&#10;            &lt;Text style={{ fontSize: 34, color: '#111827', fontWeight: 700, lineHeight: 1.2, marginTop: 6 }}&gt;所有运单，一张表管到底&lt;/Text&gt;&#10;        &lt;/Box&gt;&#10;    &lt;/Box&gt;&#10;&#10;    &lt;Box style={{ flex: 1, flexDirection: 'row', gap: 34, paddingTop: 6 }}&gt;&#10;        &lt;Box style={{ width: 372, flexDirection: 'column' }}&gt;&#10;            &lt;Text style={{ fontSize: 15, color: '#374151', lineHeight: 1.8 }}&gt;&#10;                调度最怕翻本子、翻群聊。这一页把&lt;Text style={{ fontWeight: 700 }}&gt;今天要发几趟、哪趟卡住了、哪趟钱没结&lt;/Text&gt;放在同一屏。&#10;            &lt;/Text&gt;&#10;            &lt;Box style={{ flexDirection: 'column', gap: 16, marginTop: 24 }}&gt;&#10;                {[&#10;                    ['状态一眼分清', '待接单、待装车、已发车、已到达、已完成，用颜色和页签分开，不用记口径'],&#10;                    ['该我处理的单独一个页签', '待我审批、待付款直接筛出来，不用一条条翻'],&#10;                    ['费用就写在运单这一行', '不用点进去算，点开能看到明细和凭证'],&#10;                    ['按需筛、直接导', '按日期、单号、车辆、司机、客户筛；导出就是一张对账表']&#10;                ].map((it, i) =&gt; (&#10;                    &lt;Box key={i} style={{ flexDirection: 'row', gap: 12 }}&gt;&#10;                        &lt;Text style={{ fontSize: 11, color: '#C8102E', fontWeight: 800, marginTop: 3, width: 16 }}&gt;{'0' + (i + 1)}&lt;/Text&gt;&#10;                        &lt;Box style={{ flexDirection: 'column', width: 330 }}&gt;&#10;                            &lt;Text style={{ fontSize: 15, color: '#111827', fontWeight: 700 }}&gt;{it[0]}&lt;/Text&gt;&#10;                            &lt;Text style={{ fontSize: 12.5, color: '#6B7280', lineHeight: 1.7, marginTop: 3 }}&gt;{it[1]}&lt;/Text&gt;&#10;                        &lt;/Box&gt;&#10;                    &lt;/Box&gt;&#10;                ))}&#10;            &lt;/Box&gt;&#10;            &lt;Box style={{ flex: 1 }} /&gt;&#10;            &lt;Box style={{ background: '#F4F5F7', borderRadius: 4, padding: '14px 16px', flexDirection: 'row', alignItems: 'center', gap: 12 }}&gt;&#10;                &lt;Text style={{ fontSize: 26, color: '#C8102E', fontWeight: 800, lineHeight: 1.0 }}&gt;48&lt;/Text&gt;&#10;                &lt;Text style={{ fontSize: 12.5, color: '#4B5563', lineHeight: 1.6 }}&gt;演示环境里一个月的运单量&lt;br /&gt;——全部在这张表里，一张纸都不用打&lt;/Text&gt;&#10;            &lt;/Box&gt;&#10;        &lt;/Box&gt;&#10;&#10;        &lt;Box style={{ flex: 1, justifyContent: 'flex-start' }}&gt;&#10;            &lt;Image src=&quot;assets/shot_waybill_list.png&quot; style={{ width: 700, height: 481 }} /&gt;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05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2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562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管理端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运输管理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所有运单，一张表管到底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609600" y="1181100"/>
            <a:ext cx="35433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调度最怕翻本子、翻群聊。这一页把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今天要发几趟、哪趟卡住了、哪趟钱没结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放在同一屏。</a:t>
            </a:r>
            <a:endParaRPr/>
          </a:p>
        </p:txBody>
      </p:sp>
      <p:sp>
        <p:nvSpPr>
          <p:cNvPr id="396" name="" descr="{&quot;isTemplate&quot;:true,&quot;type&quot;:&quot;text&quot;}"/>
          <p:cNvSpPr txBox="1"/>
          <p:nvPr/>
        </p:nvSpPr>
        <p:spPr>
          <a:xfrm rot="0" flipH="0" flipV="0">
            <a:off x="609600" y="2057400"/>
            <a:ext cx="152400" cy="657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7" name="" descr="{&quot;isTemplate&quot;:true,&quot;type&quot;:&quot;text&quot;}"/>
          <p:cNvSpPr txBox="1"/>
          <p:nvPr/>
        </p:nvSpPr>
        <p:spPr>
          <a:xfrm rot="0" flipH="0" flipV="0">
            <a:off x="876300" y="20288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11827"/>
                </a:solidFill>
                <a:latin typeface="Microsoft YaHei"/>
                <a:ea typeface="Microsoft YaHei"/>
              </a:rPr>
              <a:t>状态一眼分清</a:t>
            </a:r>
            <a:endParaRPr/>
          </a:p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876300" y="2228850"/>
            <a:ext cx="314325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待接单、待装车、已发车、已到达、已完成，用颜色和页签分开，不用记口径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2895600"/>
            <a:ext cx="15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876300" y="286702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11827"/>
                </a:solidFill>
                <a:latin typeface="Microsoft YaHei"/>
                <a:ea typeface="Microsoft YaHei"/>
              </a:rPr>
              <a:t>该我处理的单独一个页签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876300" y="306705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待我审批、待付款直接筛出来，不用一条条翻</a:t>
            </a:r>
            <a:endParaRPr/>
          </a:p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609600" y="3495675"/>
            <a:ext cx="15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876300" y="3467100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11827"/>
                </a:solidFill>
                <a:latin typeface="Microsoft YaHei"/>
                <a:ea typeface="Microsoft YaHei"/>
              </a:rPr>
              <a:t>费用就写在运单这一行</a:t>
            </a:r>
            <a:endParaRPr/>
          </a:p>
        </p:txBody>
      </p:sp>
      <p:sp>
        <p:nvSpPr>
          <p:cNvPr id="404" name="" descr="{&quot;isTemplate&quot;:true,&quot;type&quot;:&quot;text&quot;}"/>
          <p:cNvSpPr txBox="1"/>
          <p:nvPr/>
        </p:nvSpPr>
        <p:spPr>
          <a:xfrm rot="0" flipH="0" flipV="0">
            <a:off x="876300" y="3667125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不用点进去算，点开能看到明细和凭证</a:t>
            </a:r>
            <a:endParaRPr/>
          </a:p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609600" y="4095750"/>
            <a:ext cx="152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76300" y="4067175"/>
            <a:ext cx="3143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111827"/>
                </a:solidFill>
                <a:latin typeface="Microsoft YaHei"/>
                <a:ea typeface="Microsoft YaHei"/>
              </a:rPr>
              <a:t>按需筛、直接导</a:t>
            </a:r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876300" y="4267200"/>
            <a:ext cx="31432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按日期、单号、车辆、司机、客户筛；导出就是一张对账表</a:t>
            </a:r>
            <a:endParaRPr/>
          </a:p>
        </p:txBody>
      </p:sp>
      <p:sp>
        <p:nvSpPr>
          <p:cNvPr id="408" name=""/>
          <p:cNvSpPr/>
          <p:nvPr/>
        </p:nvSpPr>
        <p:spPr>
          <a:xfrm rot="0" flipH="0" flipV="0">
            <a:off x="609600" y="5676900"/>
            <a:ext cx="3543300" cy="723900"/>
          </a:xfrm>
          <a:prstGeom prst="roundRect">
            <a:avLst>
              <a:gd name="adj" fmla="val 5263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762000" y="5886450"/>
            <a:ext cx="2762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C8102E"/>
                </a:solidFill>
                <a:latin typeface="Microsoft YaHei"/>
                <a:ea typeface="Microsoft YaHei"/>
              </a:rPr>
              <a:t>48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1152525" y="5810250"/>
            <a:ext cx="2028825" cy="4572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演示环境里一个月的运单量</a:t>
            </a:r>
            <a:endParaRPr/>
          </a:p>
          <a:p>
            <a:pPr>
              <a:lnSpc>
                <a:spcPct val="160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——全部在这张表里，一张纸都不用打</a:t>
            </a:r>
            <a:endParaRPr/>
          </a:p>
        </p:txBody>
      </p:sp>
      <p:pic>
        <p:nvPicPr>
          <p:cNvPr id="411" name=""/>
          <p:cNvPicPr>
            <a:picLocks noChangeAspect="1"/>
          </p:cNvPicPr>
          <p:nvPr/>
        </p:nvPicPr>
        <p:blipFill>
          <a:blip r:embed="rId1"/>
          <a:srcRect l="41" t="0" r="41" b="0"/>
          <a:stretch>
            <a:fillRect/>
          </a:stretch>
        </p:blipFill>
        <p:spPr>
          <a:xfrm rot="0" flipH="0" flipV="0">
            <a:off x="4476750" y="1181100"/>
            <a:ext cx="6667500" cy="4581525"/>
          </a:xfrm>
          <a:prstGeom prst="rect">
            <a:avLst/>
          </a:prstGeom>
          <a:ln/>
        </p:spPr>
      </p:pic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05 / 14</a:t>
            </a:r>
            <a:endParaRPr/>
          </a:p>
        </p:txBody>
      </p:sp>
    </p:spTree>
  </p:cSld>
</p:sld>
</file>

<file path=ppt/slides/slide6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414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5　管理端 · 在途可视&lt;/Text&gt;&#10;            &lt;Text style={{ fontSize: 34, color: '#111827', fontWeight: 700, lineHeight: 1.2, marginTop: 6 }}&gt;车在哪、走到哪、还要多久&lt;/Text&gt;&#10;        &lt;/Box&gt;&#10;        &lt;Box style={{ flex: 1 }} /&gt;&#10;        &lt;Text style={{ fontSize: 13, color: '#6B7280', marginTop: 34 }}&gt;点开一单，全程都在这一屏&lt;/Text&gt;&#10;    &lt;/Box&gt;&#10;&#10;    &lt;Box style={{ flex: 1, flexDirection: 'column' }}&gt;&#10;        &lt;Box style={{ flexDirection: 'row', gap: 30, alignItems: 'flex-start' }}&gt;&#10;            &lt;Image src=&quot;assets/shot_waybill_track.png&quot; style={{ width: 700, height: 481 }} /&gt;&#10;            &lt;Box style={{ flex: 1, flexDirection: 'column', gap: 14, paddingTop: 4 }}&gt;&#10;                &lt;Text style={{ fontSize: 15, color: '#374151', lineHeight: 1.8 }}&gt;&#10;                    客户问&quot;到哪了&quot;，不用再让司机回一句&quot;快了&quot;。&lt;br /&gt;&#10;                    这一页把&lt;Text style={{ fontWeight: 700 }}&gt;位置、走过的路、每个节点的时间&lt;/Text&gt;摆在一起。&#10;                &lt;/Text&gt;&#10;                {[&#10;                    ['实时位置', '地图上直接看到车在哪，走的是哪条路'],&#10;                    ['两条进度', '计划一条、实际一条，差多少一目了然'],&#10;                    ['还剩多少', '按已走里程算剩余公里和预计到达时间'],&#10;                    ['节点时间', '接单、装车、发车、到达，每一步都带时间']&#10;                ].map((it, i) =&gt; (&#10;                    &lt;Box key={i} style={{ flexDirection: 'row', gap: 12, background: '#F4F5F7', borderRadius: 4, padding: '12px 14px' }}&gt;&#10;                        &lt;Box style={{ width: 3, background: '#C8102E' }} /&gt;&#10;                        &lt;Box style={{ flexDirection: 'column' }}&gt;&#10;                            &lt;Text style={{ fontSize: 13.5, color: '#111827', fontWeight: 700 }}&gt;{it[0]}&lt;/Text&gt;&#10;                            &lt;Text style={{ fontSize: 12, color: '#6B7280', lineHeight: 1.6, marginTop: 3 }}&gt;{it[1]}&lt;/Text&gt;&#10;                        &lt;/Box&gt;&#10;                    &lt;/Box&gt;&#10;                ))}&#10;            &lt;/Box&gt;&#10;        &lt;/Box&gt;&#10;&#10;        &lt;Box style={{ flexDirection: 'row', alignItems: 'center', gap: 14, borderTop: '2px solid #111827', paddingTop: 12, marginTop: 12 }}&gt;&#10;            &lt;Text style={{ fontSize: 12, color: '#C8102E', fontWeight: 800, letterSpacing: 2 }}&gt;说 到 就 能 做 到&lt;/Text&gt;&#10;            &lt;Text style={{ fontSize: 13.5, color: '#374151' }}&gt;&#10;                定位不再更新超过半小时的，系统不给&quot;预计到达&quot;——宁可不猜，也不给客户一个错的时间。&#10;            &lt;/Text&gt;&#10;        &lt;/Box&gt;&#10;    &lt;/Box&gt;&#10;&#10;    &lt;Box style={{ height: 24, flexDirection: 'row', alignItems: 'center', marginTop: 10 }}&gt;&#10;        &lt;Text style={{ fontSize: 12, color: '#9AA3AF' }}&gt;车队一体化运营平台&lt;/Text&gt;&#10;        &lt;Box style={{ flex: 1 }} /&gt;&#10;        &lt;Text style={{ fontSize: 12, color: '#9AA3AF' }}&gt;06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6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05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管理端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在途可视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车在哪、走到哪、还要多久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0096500" y="704850"/>
            <a:ext cx="14859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点开一单，全程都在这一屏</a:t>
            </a:r>
            <a:endParaRPr/>
          </a:p>
        </p:txBody>
      </p:sp>
      <p:pic>
        <p:nvPicPr>
          <p:cNvPr id="420" name=""/>
          <p:cNvPicPr>
            <a:picLocks noChangeAspect="1"/>
          </p:cNvPicPr>
          <p:nvPr/>
        </p:nvPicPr>
        <p:blipFill>
          <a:blip r:embed="rId1"/>
          <a:srcRect l="41" t="0" r="41" b="0"/>
          <a:stretch>
            <a:fillRect/>
          </a:stretch>
        </p:blipFill>
        <p:spPr>
          <a:xfrm rot="0" flipH="0" flipV="0">
            <a:off x="609600" y="1123950"/>
            <a:ext cx="6667500" cy="4581525"/>
          </a:xfrm>
          <a:prstGeom prst="rect">
            <a:avLst/>
          </a:prstGeom>
          <a:ln/>
        </p:spPr>
      </p:pic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7562850" y="1162050"/>
            <a:ext cx="4019550" cy="6191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客户问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到哪了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，不用再让司机回一句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快了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这一页把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位置、走过的路、每个节点的时间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摆在一起。</a:t>
            </a:r>
            <a:endParaRPr/>
          </a:p>
        </p:txBody>
      </p:sp>
      <p:sp>
        <p:nvSpPr>
          <p:cNvPr id="422" name=""/>
          <p:cNvSpPr/>
          <p:nvPr/>
        </p:nvSpPr>
        <p:spPr>
          <a:xfrm rot="0" flipH="0" flipV="0">
            <a:off x="7562850" y="1914525"/>
            <a:ext cx="4019550" cy="64770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23" name=""/>
          <p:cNvSpPr/>
          <p:nvPr/>
        </p:nvSpPr>
        <p:spPr>
          <a:xfrm rot="0" flipH="0" flipV="0">
            <a:off x="7696200" y="2028825"/>
            <a:ext cx="28575" cy="4191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7839075" y="202882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实时位置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7839075" y="221932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地图上直接看到车在哪，走的是哪条路</a:t>
            </a:r>
            <a:endParaRPr/>
          </a:p>
        </p:txBody>
      </p:sp>
      <p:sp>
        <p:nvSpPr>
          <p:cNvPr id="426" name=""/>
          <p:cNvSpPr/>
          <p:nvPr/>
        </p:nvSpPr>
        <p:spPr>
          <a:xfrm rot="0" flipH="0" flipV="0">
            <a:off x="7562850" y="2695575"/>
            <a:ext cx="4019550" cy="64770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7696200" y="2809875"/>
            <a:ext cx="28575" cy="4191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7839075" y="280987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两条进度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7839075" y="300037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计划一条、实际一条，差多少一目了然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7562850" y="3476625"/>
            <a:ext cx="4019550" cy="64770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31" name=""/>
          <p:cNvSpPr/>
          <p:nvPr/>
        </p:nvSpPr>
        <p:spPr>
          <a:xfrm rot="0" flipH="0" flipV="0">
            <a:off x="7696200" y="3590925"/>
            <a:ext cx="28575" cy="4191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7839075" y="3590925"/>
            <a:ext cx="1943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还剩多少</a:t>
            </a:r>
            <a:endParaRPr/>
          </a:p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7839075" y="3781425"/>
            <a:ext cx="19431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按已走里程算剩余公里和预计到达时间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7562850" y="4257675"/>
            <a:ext cx="4019550" cy="647700"/>
          </a:xfrm>
          <a:prstGeom prst="roundRect">
            <a:avLst>
              <a:gd name="adj" fmla="val 5882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35" name=""/>
          <p:cNvSpPr/>
          <p:nvPr/>
        </p:nvSpPr>
        <p:spPr>
          <a:xfrm rot="0" flipH="0" flipV="0">
            <a:off x="7696200" y="4371975"/>
            <a:ext cx="28575" cy="41910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36" name="" descr="{&quot;isTemplate&quot;:true,&quot;type&quot;:&quot;text&quot;}"/>
          <p:cNvSpPr txBox="1"/>
          <p:nvPr/>
        </p:nvSpPr>
        <p:spPr>
          <a:xfrm rot="0" flipH="0" flipV="0">
            <a:off x="7839075" y="4371975"/>
            <a:ext cx="2171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节点时间</a:t>
            </a:r>
            <a:endParaRPr/>
          </a:p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7839075" y="4562475"/>
            <a:ext cx="21717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接单、装车、发车、到达，每一步都带时间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609600" y="5819775"/>
            <a:ext cx="10972800" cy="314325"/>
          </a:xfrm>
          <a:custGeom>
            <a:pathLst>
              <a:path w="1152" h="33">
                <a:moveTo>
                  <a:pt x="0" y="0"/>
                </a:moveTo>
                <a:lnTo>
                  <a:pt x="1152" y="0"/>
                </a:lnTo>
                <a:lnTo>
                  <a:pt x="1152" y="2"/>
                </a:lnTo>
                <a:lnTo>
                  <a:pt x="0" y="2"/>
                </a:ln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609600" y="5962650"/>
            <a:ext cx="1057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说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到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就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能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做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到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1800225" y="5953125"/>
            <a:ext cx="5238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>
                <a:solidFill>
                  <a:srgbClr val="374151"/>
                </a:solidFill>
                <a:latin typeface="Microsoft YaHei"/>
                <a:ea typeface="Microsoft YaHei"/>
              </a:rPr>
              <a:t>定位不再更新超过半小时的，系统不给</a:t>
            </a:r>
            <a:r>
              <a:rPr lang="en-US" sz="1013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374151"/>
                </a:solidFill>
                <a:latin typeface="Microsoft YaHei"/>
                <a:ea typeface="Microsoft YaHei"/>
              </a:rPr>
              <a:t>预计到达</a:t>
            </a:r>
            <a:r>
              <a:rPr lang="en-US" sz="1013">
                <a:solidFill>
                  <a:srgbClr val="374151"/>
                </a:solidFill>
                <a:latin typeface="Microsoft YaHei"/>
                <a:ea typeface="Microsoft YaHei"/>
              </a:rPr>
              <a:t>"——</a:t>
            </a:r>
            <a:r>
              <a:rPr lang="zh-CN" sz="1013">
                <a:solidFill>
                  <a:srgbClr val="374151"/>
                </a:solidFill>
                <a:latin typeface="Microsoft YaHei"/>
                <a:ea typeface="Microsoft YaHei"/>
              </a:rPr>
              <a:t>宁可不猜，也不给客户一个错的时间。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442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06 / 14</a:t>
            </a:r>
            <a:endParaRPr/>
          </a:p>
        </p:txBody>
      </p:sp>
    </p:spTree>
  </p:cSld>
</p:sld>
</file>

<file path=ppt/slides/slide7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443" name="" descr="&lt;Slide style={{ width: 1280, height: 720, background: '#F4F5F7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6　管理端 · 到场有据&lt;/Text&gt;&#10;            &lt;Text style={{ fontSize: 34, color: '#111827', fontWeight: 700, lineHeight: 1.2, marginTop: 6 }}&gt;到场不靠一张嘴，靠一个圈&lt;/Text&gt;&#10;        &lt;/Box&gt;&#10;    &lt;/Box&gt;&#10;&#10;    &lt;Box style={{ flex: 1, flexDirection: 'row', gap: 34, paddingTop: 6 }}&gt;&#10;        &lt;Box style={{ width: 700, flexDirection: 'column' }}&gt;&#10;            &lt;Image src=&quot;assets/shot_fence.png&quot; style={{ width: 700, height: 456 }} /&gt;&#10;            &lt;Text style={{ fontSize: 11.5, color: '#9AA3AF', marginTop: 10 }}&gt;&#10;                装货地、卸货地、提醒区域分开管，图上圈好，名单一眼看清&#10;            &lt;/Text&gt;&#10;        &lt;/Box&gt;&#10;&#10;        &lt;Box style={{ flex: 1, flexDirection: 'column' }}&gt;&#10;            &lt;Text style={{ fontSize: 15, color: '#374151', lineHeight: 1.8 }}&gt;&#10;                以前&quot;几点到的&quot;全凭司机一句话，扯皮时谁都说不清。&lt;br /&gt;&#10;                现在给装货地、卸货地各画一个圈，&lt;Text style={{ fontWeight: 700 }}&gt;车进圈、出圈，时间自己记下来。&lt;/Text&gt;&#10;            &lt;/Text&gt;&#10;            &lt;Box style={{ flexDirection: 'column', gap: 14, marginTop: 22 }}&gt;&#10;                {[&#10;                    ['圈得准', '圆形、多边形、按行政区划三种圈法，厂区、仓库、整片城区都能圈住'],&#10;                    ['记得住', '进圈出圈自动打卡，司机不用手动报到，管理端不用盯着看'],&#10;                    ['查得到', '哪台车、几点到的、停了多久，列表里排得清清楚楚'],&#10;                    ['管得住', '不该去的区域可以设提醒，车一进就亮灯，避免绕路和私用']&#10;                ].map((it, i) =&gt; (&#10;                    &lt;Box key={i} style={{ flexDirection: 'row', gap: 12, background: '#FFFFFF', borderRadius: 4, padding: '13px 15px' }}&gt;&#10;                        &lt;Text style={{ fontSize: 11, color: '#C8102E', fontWeight: 800, marginTop: 3, width: 16 }}&gt;{'0' + (i + 1)}&lt;/Text&gt;&#10;                        &lt;Box style={{ flexDirection: 'column', width: 300 }}&gt;&#10;                            &lt;Text style={{ fontSize: 14, color: '#111827', fontWeight: 700 }}&gt;{it[0]}&lt;/Text&gt;&#10;                            &lt;Text style={{ fontSize: 12.5, color: '#6B7280', lineHeight: 1.7, marginTop: 3 }}&gt;{it[1]}&lt;/Text&gt;&#10;                        &lt;/Box&gt;&#10;                    &lt;/Box&gt;&#10;                ))}&#10;            &lt;/Box&gt;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07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45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886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06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管理端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到场有据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到场不靠一张嘴，靠一个圈</a:t>
            </a:r>
            <a:endParaRPr/>
          </a:p>
        </p:txBody>
      </p:sp>
      <p:pic>
        <p:nvPicPr>
          <p:cNvPr id="448" name=""/>
          <p:cNvPicPr>
            <a:picLocks noChangeAspect="1"/>
          </p:cNvPicPr>
          <p:nvPr/>
        </p:nvPicPr>
        <p:blipFill>
          <a:blip r:embed="rId1"/>
          <a:srcRect l="21" t="0" r="21" b="0"/>
          <a:stretch>
            <a:fillRect/>
          </a:stretch>
        </p:blipFill>
        <p:spPr>
          <a:xfrm rot="0" flipH="0" flipV="0">
            <a:off x="609600" y="1181100"/>
            <a:ext cx="6667500" cy="4343400"/>
          </a:xfrm>
          <a:prstGeom prst="rect">
            <a:avLst/>
          </a:prstGeom>
          <a:ln/>
        </p:spPr>
      </p:pic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609600" y="5619750"/>
            <a:ext cx="66675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装货地、卸货地、提醒区域分开管，图上圈好，名单一眼看清</a:t>
            </a:r>
            <a:endParaRPr/>
          </a:p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7600950" y="1181100"/>
            <a:ext cx="398145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以前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几点到的</a:t>
            </a:r>
            <a:r>
              <a:rPr lang="en-US" sz="1125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全凭司机一句话，扯皮时谁都说不清。</a:t>
            </a:r>
            <a:endParaRPr/>
          </a:p>
          <a:p>
            <a:pPr>
              <a:lnSpc>
                <a:spcPct val="180000"/>
              </a:lnSpc>
            </a:pP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现在给装货地、卸货地各画一个圈，</a:t>
            </a:r>
            <a:r>
              <a:rPr lang="zh-CN" sz="1125">
                <a:solidFill>
                  <a:srgbClr val="374151"/>
                </a:solidFill>
                <a:latin typeface="Microsoft YaHei"/>
                <a:ea typeface="Microsoft YaHei"/>
              </a:rPr>
              <a:t>车进圈、出圈，时间自己记下来。</a:t>
            </a:r>
            <a:endParaRPr/>
          </a:p>
        </p:txBody>
      </p:sp>
      <p:sp>
        <p:nvSpPr>
          <p:cNvPr id="451" name=""/>
          <p:cNvSpPr/>
          <p:nvPr/>
        </p:nvSpPr>
        <p:spPr>
          <a:xfrm rot="0" flipH="0" flipV="0">
            <a:off x="7600950" y="2324100"/>
            <a:ext cx="39814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7743825" y="2476500"/>
            <a:ext cx="152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010525" y="24479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圈得准</a:t>
            </a:r>
            <a:endParaRPr/>
          </a:p>
        </p:txBody>
      </p:sp>
      <p:sp>
        <p:nvSpPr>
          <p:cNvPr id="454" name="" descr="{&quot;isTemplate&quot;:true,&quot;type&quot;:&quot;text&quot;}"/>
          <p:cNvSpPr txBox="1"/>
          <p:nvPr/>
        </p:nvSpPr>
        <p:spPr>
          <a:xfrm rot="0" flipH="0" flipV="0">
            <a:off x="8010525" y="2638425"/>
            <a:ext cx="2857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圆形、多边形、按行政区划三种圈法，厂区、仓库、整片城区都能圈住</a:t>
            </a:r>
            <a:endParaRPr/>
          </a:p>
        </p:txBody>
      </p:sp>
      <p:sp>
        <p:nvSpPr>
          <p:cNvPr id="455" name=""/>
          <p:cNvSpPr/>
          <p:nvPr/>
        </p:nvSpPr>
        <p:spPr>
          <a:xfrm rot="0" flipH="0" flipV="0">
            <a:off x="7600950" y="3381375"/>
            <a:ext cx="39814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7743825" y="3533775"/>
            <a:ext cx="152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8010525" y="3505200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记得住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8010525" y="3695700"/>
            <a:ext cx="2857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进圈出圈自动打卡，司机不用手动报到，管理端不用盯着看</a:t>
            </a:r>
            <a:endParaRPr/>
          </a:p>
        </p:txBody>
      </p:sp>
      <p:sp>
        <p:nvSpPr>
          <p:cNvPr id="459" name=""/>
          <p:cNvSpPr/>
          <p:nvPr/>
        </p:nvSpPr>
        <p:spPr>
          <a:xfrm rot="0" flipH="0" flipV="0">
            <a:off x="7600950" y="4438650"/>
            <a:ext cx="3981450" cy="68580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0" name="" descr="{&quot;isTemplate&quot;:true,&quot;type&quot;:&quot;text&quot;}"/>
          <p:cNvSpPr txBox="1"/>
          <p:nvPr/>
        </p:nvSpPr>
        <p:spPr>
          <a:xfrm rot="0" flipH="0" flipV="0">
            <a:off x="7743825" y="4591050"/>
            <a:ext cx="152400" cy="4095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61" name="" descr="{&quot;isTemplate&quot;:true,&quot;type&quot;:&quot;text&quot;}"/>
          <p:cNvSpPr txBox="1"/>
          <p:nvPr/>
        </p:nvSpPr>
        <p:spPr>
          <a:xfrm rot="0" flipH="0" flipV="0">
            <a:off x="8010525" y="456247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查得到</a:t>
            </a:r>
            <a:endParaRPr/>
          </a:p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010525" y="4752975"/>
            <a:ext cx="285750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哪台车、几点到的、停了多久，列表里排得清清楚楚</a:t>
            </a:r>
            <a:endParaRPr/>
          </a:p>
        </p:txBody>
      </p:sp>
      <p:sp>
        <p:nvSpPr>
          <p:cNvPr id="463" name=""/>
          <p:cNvSpPr/>
          <p:nvPr/>
        </p:nvSpPr>
        <p:spPr>
          <a:xfrm rot="0" flipH="0" flipV="0">
            <a:off x="7600950" y="5257800"/>
            <a:ext cx="3981450" cy="923925"/>
          </a:xfrm>
          <a:prstGeom prst="roundRect">
            <a:avLst>
              <a:gd name="adj" fmla="val 4124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7743825" y="5410200"/>
            <a:ext cx="1524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8010525" y="5381625"/>
            <a:ext cx="2857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11827"/>
                </a:solidFill>
                <a:latin typeface="Microsoft YaHei"/>
                <a:ea typeface="Microsoft YaHei"/>
              </a:rPr>
              <a:t>管得住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8010525" y="5572125"/>
            <a:ext cx="2857500" cy="4857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不该去的区域可以设提醒，车一进就亮灯，避免绕路和私用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468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07 / 14</a:t>
            </a:r>
            <a:endParaRPr/>
          </a:p>
        </p:txBody>
      </p:sp>
    </p:spTree>
  </p:cSld>
</p:sld>
</file>

<file path=ppt/slides/slide8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469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7　管理端 · 费用透明&lt;/Text&gt;&#10;            &lt;Text style={{ fontSize: 34, color: '#111827', fontWeight: 700, lineHeight: 1.2, marginTop: 6 }}&gt;每一笔钱，都有照片、有名有姓&lt;/Text&gt;&#10;        &lt;/Box&gt;&#10;    &lt;/Box&gt;&#10;&#10;    &lt;Box style={{ flex: 1, flexDirection: 'row', gap: 34, paddingTop: 2 }}&gt;&#10;        &lt;Image src=&quot;assets/shot_fee_drawer.png&quot; style={{ width: 264, height: 459 }} /&gt;&#10;&#10;        &lt;Box style={{ flex: 1, flexDirection: 'column' }}&gt;&#10;            &lt;Text style={{ fontSize: 14.5, color: '#374151', lineHeight: 1.8, width: 800 }}&gt;&#10;                过路费、加油、吃饭、装卸，先垫后报最怕&quot;报了不认&quot;。现在一笔费用就是一张卡：&lt;Text style={{ fontWeight: 700 }}&gt;金额、事由、照片、审批、付款，全在一处。&lt;/Text&gt;&#10;            &lt;/Text&gt;&#10;&#10;            &lt;Box style={{ flexDirection: 'column', marginTop: 16 }}&gt;&#10;                {[&#10;                    ['上报', '司机拍张照就报了', '金额 + 费用类型 + 凭证照，一笔一张卡，糊不掉也赖不掉', '例：过路费 200 元 + 一张票据照'],&#10;                    ['审批', '谁审的一目了然', '按金额分档，小钱一路过、大钱多一级，审过的签字留在单子上', '例：500 元以下调度审，以上财务再审'],&#10;                    ['打款', '打没打款有回执', '付款方式与回执一起存，钱什么时候出去的、去的哪，都有据', '例：已打款要驳回，先撤付款再驳'],&#10;                    ['对账', '一单到底能对平', '整单费用合起来看，跟运单一起结，月底不用再拉 Excel', '例：按车、按人、按客户、按分公司都能筛']&#10;                ].map((it, i) =&gt; (&#10;                    &lt;Box key={i} style={{ flexDirection: 'row', gap: 14, paddingBottom: 14, marginBottom: 14, borderBottom: i &lt; 3 ? '1px solid #EDEEF1' : 'none' }}&gt;&#10;                        &lt;Text style={{ fontSize: 12, color: '#C8102E', fontWeight: 800, width: 22, marginTop: 3 }}&gt;{'0' + (i + 1)}&lt;/Text&gt;&#10;                        &lt;Box style={{ flexDirection: 'column', width: 800 }}&gt;&#10;                            &lt;Box style={{ flexDirection: 'row', alignItems: 'baseline', gap: 10 }}&gt;&#10;                                &lt;Text style={{ fontSize: 16, color: '#111827', fontWeight: 700 }}&gt;{it[0]}&lt;/Text&gt;&#10;                                &lt;Text style={{ fontSize: 12.5, color: '#C8102E', fontWeight: 700 }}&gt;{it[1]}&lt;/Text&gt;&#10;                            &lt;/Box&gt;&#10;                            &lt;Text style={{ fontSize: 12.5, color: '#4B5563', lineHeight: 1.65, marginTop: 4 }}&gt;{it[2]}&lt;/Text&gt;&#10;                            &lt;Text style={{ fontSize: 11, color: '#9AA3AF', marginTop: 3 }}&gt;{it[3]}&lt;/Text&gt;&#10;                        &lt;/Box&gt;&#10;                    &lt;/Box&gt;&#10;                ))}&#10;            &lt;/Box&gt;&#10;        &lt;/Box&gt;&#10;    &lt;/Box&gt;&#10;&#10;    &lt;Box style={{ flexDirection: 'row', alignItems: 'center', background: '#111827', borderRadius: 4, padding: '15px 22px', marginTop: 12 }}&gt;&#10;        &lt;Text style={{ fontSize: 12, color: '#C8102E', fontWeight: 800, letterSpacing: 2, marginRight: 18 }}&gt;一 笔 费 用&lt;/Text&gt;&#10;        &lt;Text style={{ fontSize: 15, color: '#E5E7EB' }}&gt;＝ 金额 ＋ 照片 ＋ 审批链 ＋ 付款记录，缺一条就过不去&lt;/Text&gt;&#10;    &lt;/Box&gt;&#10;&#10;    &lt;Box style={{ height: 24, flexDirection: 'row', alignItems: 'center', marginTop: 6 }}&gt;&#10;        &lt;Text style={{ fontSize: 12, color: '#9AA3AF' }}&gt;车队一体化运营平台&lt;/Text&gt;&#10;        &lt;Box style={{ flex: 1 }} /&gt;&#10;        &lt;Text style={{ fontSize: 12, color: '#9AA3AF' }}&gt;08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71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07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管理端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费用透明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每一笔钱，都有照片、有名有姓</a:t>
            </a:r>
            <a:endParaRPr/>
          </a:p>
        </p:txBody>
      </p:sp>
      <p:pic>
        <p:nvPicPr>
          <p:cNvPr id="474" name=""/>
          <p:cNvPicPr>
            <a:picLocks noChangeAspect="1"/>
          </p:cNvPicPr>
          <p:nvPr/>
        </p:nvPicPr>
        <p:blipFill>
          <a:blip r:embed="rId1"/>
          <a:srcRect l="30" t="0" r="30" b="0"/>
          <a:stretch>
            <a:fillRect/>
          </a:stretch>
        </p:blipFill>
        <p:spPr>
          <a:xfrm rot="0" flipH="0" flipV="0">
            <a:off x="609600" y="1143000"/>
            <a:ext cx="2514600" cy="4371975"/>
          </a:xfrm>
          <a:prstGeom prst="rect">
            <a:avLst/>
          </a:prstGeom>
          <a:ln/>
        </p:spPr>
      </p:pic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448050" y="1143000"/>
            <a:ext cx="7620000" cy="600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过路费、加油、吃饭、装卸，先垫后报最怕</a:t>
            </a:r>
            <a:r>
              <a:rPr lang="en-US" sz="1088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报了不认</a:t>
            </a:r>
            <a:r>
              <a:rPr lang="en-US" sz="1088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。现在一笔费用就是一张卡：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金额、事由、照片、审批、付款，全在一处。</a:t>
            </a:r>
            <a:endParaRPr/>
          </a:p>
        </p:txBody>
      </p:sp>
      <p:sp>
        <p:nvSpPr>
          <p:cNvPr id="476" name=""/>
          <p:cNvSpPr/>
          <p:nvPr/>
        </p:nvSpPr>
        <p:spPr>
          <a:xfrm rot="0" flipH="0" flipV="0">
            <a:off x="3448050" y="1895475"/>
            <a:ext cx="8134350" cy="781050"/>
          </a:xfrm>
          <a:custGeom>
            <a:pathLst>
              <a:path w="854" h="82">
                <a:moveTo>
                  <a:pt x="0" y="81"/>
                </a:moveTo>
                <a:lnTo>
                  <a:pt x="854" y="81"/>
                </a:lnTo>
                <a:lnTo>
                  <a:pt x="85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DEEF1"/>
          </a:solidFill>
          <a:ln/>
        </p:spPr>
        <p:txBody>
          <a:bodyPr/>
          <a:p/>
        </p:txBody>
      </p:sp>
      <p:sp>
        <p:nvSpPr>
          <p:cNvPr id="477" name="" descr="{&quot;isTemplate&quot;:true,&quot;type&quot;:&quot;text&quot;}"/>
          <p:cNvSpPr txBox="1"/>
          <p:nvPr/>
        </p:nvSpPr>
        <p:spPr>
          <a:xfrm rot="0" flipH="0" flipV="0">
            <a:off x="3448050" y="1924050"/>
            <a:ext cx="2095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78" name="" descr="{&quot;isTemplate&quot;:true,&quot;type&quot;:&quot;text&quot;}"/>
          <p:cNvSpPr txBox="1"/>
          <p:nvPr/>
        </p:nvSpPr>
        <p:spPr>
          <a:xfrm rot="0" flipH="0" flipV="0">
            <a:off x="3790950" y="189547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上报</a:t>
            </a:r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4191000" y="1895475"/>
            <a:ext cx="95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司机拍张照就报了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790950" y="2124075"/>
            <a:ext cx="762000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金额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费用类型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凭证照，一笔一张卡，糊不掉也赖不掉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3790950" y="2390775"/>
            <a:ext cx="7620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例：过路费</a:t>
            </a:r>
            <a:r>
              <a:rPr lang="en-US" sz="825">
                <a:solidFill>
                  <a:srgbClr val="9AA3AF"/>
                </a:solidFill>
                <a:latin typeface="Microsoft YaHei"/>
                <a:ea typeface="Microsoft YaHei"/>
              </a:rPr>
              <a:t xml:space="preserve"> 200 </a:t>
            </a: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元</a:t>
            </a:r>
            <a:r>
              <a:rPr lang="en-US" sz="825">
                <a:solidFill>
                  <a:srgbClr val="9AA3A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一张票据照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3448050" y="2800350"/>
            <a:ext cx="8134350" cy="781050"/>
          </a:xfrm>
          <a:custGeom>
            <a:pathLst>
              <a:path w="854" h="82">
                <a:moveTo>
                  <a:pt x="0" y="81"/>
                </a:moveTo>
                <a:lnTo>
                  <a:pt x="854" y="81"/>
                </a:lnTo>
                <a:lnTo>
                  <a:pt x="85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DEEF1"/>
          </a:solidFill>
          <a:ln/>
        </p:spPr>
        <p:txBody>
          <a:bodyPr/>
          <a:p/>
        </p:txBody>
      </p:sp>
      <p:sp>
        <p:nvSpPr>
          <p:cNvPr id="483" name="" descr="{&quot;isTemplate&quot;:true,&quot;type&quot;:&quot;text&quot;}"/>
          <p:cNvSpPr txBox="1"/>
          <p:nvPr/>
        </p:nvSpPr>
        <p:spPr>
          <a:xfrm rot="0" flipH="0" flipV="0">
            <a:off x="3448050" y="2828925"/>
            <a:ext cx="2095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3790950" y="280035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审批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4191000" y="280035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谁审的一目了然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3790950" y="3028950"/>
            <a:ext cx="762000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按金额分档，小钱一路过、大钱多一级，审过的签字留在单子上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3790950" y="3295650"/>
            <a:ext cx="7620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例：</a:t>
            </a:r>
            <a:r>
              <a:rPr lang="en-US" sz="825">
                <a:solidFill>
                  <a:srgbClr val="9AA3AF"/>
                </a:solidFill>
                <a:latin typeface="Microsoft YaHei"/>
                <a:ea typeface="Microsoft YaHei"/>
              </a:rPr>
              <a:t xml:space="preserve">500 </a:t>
            </a: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元以下调度审，以上财务再审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3448050" y="3705225"/>
            <a:ext cx="8134350" cy="781050"/>
          </a:xfrm>
          <a:custGeom>
            <a:pathLst>
              <a:path w="854" h="82">
                <a:moveTo>
                  <a:pt x="0" y="81"/>
                </a:moveTo>
                <a:lnTo>
                  <a:pt x="854" y="81"/>
                </a:lnTo>
                <a:lnTo>
                  <a:pt x="854" y="82"/>
                </a:lnTo>
                <a:lnTo>
                  <a:pt x="0" y="82"/>
                </a:lnTo>
                <a:close/>
              </a:path>
            </a:pathLst>
          </a:custGeom>
          <a:solidFill>
            <a:srgbClr val="EDEEF1"/>
          </a:solidFill>
          <a:ln/>
        </p:spPr>
        <p:txBody>
          <a:bodyPr/>
          <a:p/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3448050" y="3733800"/>
            <a:ext cx="2095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3790950" y="3705225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打款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4191000" y="3705225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打没打款有回执</a:t>
            </a:r>
            <a:endParaRPr/>
          </a:p>
        </p:txBody>
      </p:sp>
      <p:sp>
        <p:nvSpPr>
          <p:cNvPr id="492" name="" descr="{&quot;isTemplate&quot;:true,&quot;type&quot;:&quot;text&quot;}"/>
          <p:cNvSpPr txBox="1"/>
          <p:nvPr/>
        </p:nvSpPr>
        <p:spPr>
          <a:xfrm rot="0" flipH="0" flipV="0">
            <a:off x="3790950" y="3933825"/>
            <a:ext cx="762000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付款方式与回执一起存，钱什么时候出去的、去的哪，都有据</a:t>
            </a:r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3790950" y="4200525"/>
            <a:ext cx="7620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例：已打款要驳回，先撤付款再驳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3448050" y="4638675"/>
            <a:ext cx="20955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3790950" y="46101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对账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4191000" y="46101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一单到底能对平</a:t>
            </a:r>
            <a:endParaRPr/>
          </a:p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3790950" y="4838700"/>
            <a:ext cx="7620000" cy="23812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整单费用合起来看，跟运单一起结，月底不用再拉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Excel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3790950" y="5105400"/>
            <a:ext cx="76200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例：按车、按人、按客户、按分公司都能筛</a:t>
            </a:r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609600" y="5886450"/>
            <a:ext cx="10972800" cy="457200"/>
          </a:xfrm>
          <a:prstGeom prst="roundRect">
            <a:avLst>
              <a:gd name="adj" fmla="val 8333"/>
            </a:avLst>
          </a:prstGeom>
          <a:solidFill>
            <a:srgbClr val="111827"/>
          </a:solidFill>
          <a:ln/>
        </p:spPr>
        <p:txBody>
          <a:bodyPr/>
          <a:p/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819150" y="6048375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一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笔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费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用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1685925" y="6029325"/>
            <a:ext cx="3571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＝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金额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照片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审批链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＋</a:t>
            </a:r>
            <a:r>
              <a:rPr lang="en-US" sz="11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付款记录，缺一条就过不去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08 / 14</a:t>
            </a:r>
            <a:endParaRPr/>
          </a:p>
        </p:txBody>
      </p:sp>
    </p:spTree>
  </p:cSld>
</p:sld>
</file>

<file path=ppt/slides/slide9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504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8　管理端 · 成本与能效&lt;/Text&gt;&#10;            &lt;Text style={{ fontSize: 34, color: '#111827', fontWeight: 700, lineHeight: 1.2, marginTop: 6 }}&gt;一台车跑得值不值，用数说话&lt;/Text&gt;&#10;        &lt;/Box&gt;&#10;    &lt;/Box&gt;&#10;&#10;    &lt;Box style={{ flex: 1, flexDirection: 'row', gap: 32, paddingTop: 4 }}&gt;&#10;        &lt;Box style={{ width: 356, flexDirection: 'column' }}&gt;&#10;            &lt;Box style={{ flexDirection: 'row', flexWrap: 'wrap', gap: 12 }}&gt;&#10;                {[['24', '台', '在管车辆'], ['26.2', '万公里', '整月总里程'], ['130', 'kWh', '百公里电耗'], ['81', '%', '出车率']].map((it, i) =&gt; (&#10;                    &lt;Box key={i} style={{ width: 172, height: 104, background: '#F4F5F7', borderRadius: 4, padding: '12px 16px', flexDirection: 'column' }}&gt;&#10;                        &lt;Box style={{ flexDirection: 'row', alignItems: 'baseline', gap: 4 }}&gt;&#10;                            &lt;Text style={{ fontSize: 38, color: i === 2 ? '#C8102E' : '#111827', fontWeight: 800, lineHeight: 1.0, letterSpacing: -1 }}&gt;{it[0]}&lt;/Text&gt;&#10;                            &lt;Text style={{ fontSize: 12, color: '#6B7280', fontWeight: 600 }}&gt;{it[1]}&lt;/Text&gt;&#10;                        &lt;/Box&gt;&#10;                        &lt;Box style={{ flex: 1 }} /&gt;&#10;                        &lt;Text style={{ fontSize: 12, color: '#6B7280' }}&gt;{it[2]}&lt;/Text&gt;&#10;                    &lt;/Box&gt;&#10;                ))}&#10;            &lt;/Box&gt;&#10;&#10;            &lt;Text style={{ fontSize: 14, color: '#374151', lineHeight: 1.85, marginTop: 18 }}&gt;&#10;                这些数不是月底拉表算出来的，是每天跑出来的：&lt;br /&gt;&#10;                谁的电耗高、谁急加速多、哪台车在空转，报告里都点得出名字。&#10;            &lt;/Text&gt;&#10;&#10;            &lt;Box style={{ flexDirection: 'column', gap: 8, marginTop: 14 }}&gt;&#10;                {['空转最久的车 → 先看排班是不是排多了', '电耗高于队均的车 → 先查驾驶习惯', '出车率偏低的分公司 → 单独看运力够不够'].map((t, i) =&gt; (&#10;                    &lt;Box key={i} style={{ flexDirection: 'row', gap: 8, alignItems: 'flex-start' }}&gt;&#10;                        &lt;Text style={{ fontSize: 10.5, color: '#C8102E', fontWeight: 800, marginTop: 3 }}&gt;▪&lt;/Text&gt;&#10;                        &lt;Text style={{ fontSize: 12.5, color: '#4B5563', lineHeight: 1.6, width: 320 }}&gt;{t}&lt;/Text&gt;&#10;                    &lt;/Box&gt;&#10;                ))}&#10;            &lt;/Box&gt;&#10;&#10;            &lt;Box style={{ flex: 1 }} /&gt;&#10;&#10;            &lt;Box style={{ background: '#111827', borderRadius: 4, padding: '13px 18px' }}&gt;&#10;                &lt;Text style={{ fontSize: 12, color: '#C8102E', fontWeight: 800, letterSpacing: 2 }}&gt;省 在 哪&lt;/Text&gt;&#10;                &lt;Text style={{ fontSize: 12.5, color: '#E5E7EB', lineHeight: 1.8, marginTop: 8 }}&gt;&#10;                    电耗高的车先查驾驶习惯，&lt;br /&gt;空转多的线路先调排班——&lt;br /&gt;省下来的都是纯利润。&#10;                &lt;/Text&gt;&#10;            &lt;/Box&gt;&#10;        &lt;/Box&gt;&#10;&#10;        &lt;Box style={{ flex: 1, flexDirection: 'column' }}&gt;&#10;            &lt;Image src=&quot;assets/shot_analysis.png&quot; style={{ width: 746, height: 417 }} /&gt;&#10;            &lt;Box style={{ flexDirection: 'row', alignItems: 'center', gap: 10, marginTop: 12 }}&gt;&#10;                &lt;Box style={{ width: 14, height: 2, background: '#C8102E' }} /&gt;&#10;                &lt;Text style={{ fontSize: 11.5, color: '#9AA3AF' }}&gt;月度车队分析报告：里程、电耗、驾驶行为、能耗排名，一次生成&lt;/Text&gt;&#10;            &lt;/Box&gt;&#10;            &lt;Box style={{ flexDirection: 'row', gap: 10, marginTop: 14 }}&gt;&#10;                {['车队档案一目了然', '分段路况电耗', '驾驶行为排名', '单车能耗对比', '能耗趋势'].map((t, i) =&gt; (&#10;                    &lt;Box key={i} style={{ padding: '7px 12px', borderRadius: 3, border: '1px solid #E0E4EA' }}&gt;&#10;                        &lt;Text style={{ fontSize: 11.5, color: '#4B5563', fontWeight: 600 }}&gt;{t}&lt;/Text&gt;&#10;                    &lt;/Box&gt;&#10;                ))}&#10;            &lt;/Box&gt;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09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6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507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4210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08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管理端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成本与能效</a:t>
            </a:r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42100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一台车跑得值不值，用数说话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609600" y="1162050"/>
            <a:ext cx="1638300" cy="990600"/>
          </a:xfrm>
          <a:prstGeom prst="roundRect">
            <a:avLst>
              <a:gd name="adj" fmla="val 3846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762000" y="1276350"/>
            <a:ext cx="3905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111827"/>
                </a:solidFill>
                <a:latin typeface="Microsoft YaHei"/>
                <a:ea typeface="Microsoft YaHei"/>
              </a:rPr>
              <a:t>24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1190625" y="1276350"/>
            <a:ext cx="1143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6B7280"/>
                </a:solidFill>
                <a:latin typeface="Microsoft YaHei"/>
                <a:ea typeface="Microsoft YaHei"/>
              </a:rPr>
              <a:t>台</a:t>
            </a:r>
            <a:endParaRPr/>
          </a:p>
        </p:txBody>
      </p:sp>
      <p:sp>
        <p:nvSpPr>
          <p:cNvPr id="512" name="" descr="{&quot;isTemplate&quot;:true,&quot;type&quot;:&quot;text&quot;}"/>
          <p:cNvSpPr txBox="1"/>
          <p:nvPr/>
        </p:nvSpPr>
        <p:spPr>
          <a:xfrm rot="0" flipH="0" flipV="0">
            <a:off x="762000" y="1895475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在管车辆</a:t>
            </a:r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2362200" y="1162050"/>
            <a:ext cx="1638300" cy="990600"/>
          </a:xfrm>
          <a:prstGeom prst="roundRect">
            <a:avLst>
              <a:gd name="adj" fmla="val 3846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2514600" y="1276350"/>
            <a:ext cx="6667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111827"/>
                </a:solidFill>
                <a:latin typeface="Microsoft YaHei"/>
                <a:ea typeface="Microsoft YaHei"/>
              </a:rPr>
              <a:t>26.2</a:t>
            </a:r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3219450" y="1276350"/>
            <a:ext cx="3429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6B7280"/>
                </a:solidFill>
                <a:latin typeface="Microsoft YaHei"/>
                <a:ea typeface="Microsoft YaHei"/>
              </a:rPr>
              <a:t>万公里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2514600" y="1895475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整月总里程</a:t>
            </a:r>
            <a:endParaRPr/>
          </a:p>
        </p:txBody>
      </p:sp>
      <p:sp>
        <p:nvSpPr>
          <p:cNvPr id="517" name=""/>
          <p:cNvSpPr/>
          <p:nvPr/>
        </p:nvSpPr>
        <p:spPr>
          <a:xfrm rot="0" flipH="0" flipV="0">
            <a:off x="609600" y="2266950"/>
            <a:ext cx="1638300" cy="990600"/>
          </a:xfrm>
          <a:prstGeom prst="roundRect">
            <a:avLst>
              <a:gd name="adj" fmla="val 3846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518" name="" descr="{&quot;isTemplate&quot;:true,&quot;type&quot;:&quot;text&quot;}"/>
          <p:cNvSpPr txBox="1"/>
          <p:nvPr/>
        </p:nvSpPr>
        <p:spPr>
          <a:xfrm rot="0" flipH="0" flipV="0">
            <a:off x="762000" y="2381250"/>
            <a:ext cx="5810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C8102E"/>
                </a:solidFill>
                <a:latin typeface="Microsoft YaHei"/>
                <a:ea typeface="Microsoft YaHei"/>
              </a:rPr>
              <a:t>130</a:t>
            </a:r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1381125" y="2381250"/>
            <a:ext cx="24765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6B7280"/>
                </a:solidFill>
                <a:latin typeface="Microsoft YaHei"/>
                <a:ea typeface="Microsoft YaHei"/>
              </a:rPr>
              <a:t>kWh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762000" y="3000375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百公里电耗</a:t>
            </a:r>
            <a:endParaRPr/>
          </a:p>
        </p:txBody>
      </p:sp>
      <p:sp>
        <p:nvSpPr>
          <p:cNvPr id="521" name=""/>
          <p:cNvSpPr/>
          <p:nvPr/>
        </p:nvSpPr>
        <p:spPr>
          <a:xfrm rot="0" flipH="0" flipV="0">
            <a:off x="2362200" y="2266950"/>
            <a:ext cx="1638300" cy="990600"/>
          </a:xfrm>
          <a:prstGeom prst="roundRect">
            <a:avLst>
              <a:gd name="adj" fmla="val 3846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522" name="" descr="{&quot;isTemplate&quot;:true,&quot;type&quot;:&quot;text&quot;}"/>
          <p:cNvSpPr txBox="1"/>
          <p:nvPr/>
        </p:nvSpPr>
        <p:spPr>
          <a:xfrm rot="0" flipH="0" flipV="0">
            <a:off x="2514600" y="2381250"/>
            <a:ext cx="39052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 spc="-75">
                <a:solidFill>
                  <a:srgbClr val="111827"/>
                </a:solidFill>
                <a:latin typeface="Microsoft YaHei"/>
                <a:ea typeface="Microsoft YaHei"/>
              </a:rPr>
              <a:t>81</a:t>
            </a:r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2943225" y="2381250"/>
            <a:ext cx="104775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6B7280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524" name="" descr="{&quot;isTemplate&quot;:true,&quot;type&quot;:&quot;text&quot;}"/>
          <p:cNvSpPr txBox="1"/>
          <p:nvPr/>
        </p:nvSpPr>
        <p:spPr>
          <a:xfrm rot="0" flipH="0" flipV="0">
            <a:off x="2514600" y="3000375"/>
            <a:ext cx="1333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6B7280"/>
                </a:solidFill>
                <a:latin typeface="Microsoft YaHei"/>
                <a:ea typeface="Microsoft YaHei"/>
              </a:rPr>
              <a:t>出车率</a:t>
            </a:r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609600" y="3429000"/>
            <a:ext cx="33909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50">
                <a:solidFill>
                  <a:srgbClr val="374151"/>
                </a:solidFill>
                <a:latin typeface="Microsoft YaHei"/>
                <a:ea typeface="Microsoft YaHei"/>
              </a:rPr>
              <a:t>这些数不是月底拉表算出来的，是每天跑出来的：</a:t>
            </a:r>
            <a:endParaRPr/>
          </a:p>
          <a:p>
            <a:pPr>
              <a:lnSpc>
                <a:spcPct val="185000"/>
              </a:lnSpc>
            </a:pPr>
            <a:r>
              <a:rPr lang="zh-CN" sz="1050">
                <a:solidFill>
                  <a:srgbClr val="374151"/>
                </a:solidFill>
                <a:latin typeface="Microsoft YaHei"/>
                <a:ea typeface="Microsoft YaHei"/>
              </a:rPr>
              <a:t>谁的电耗高、谁急加速多、哪台车在空转，报告里都点得出名字。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609600" y="4486275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527" name="" descr="{&quot;isTemplate&quot;:true,&quot;type&quot;:&quot;text&quot;}"/>
          <p:cNvSpPr txBox="1"/>
          <p:nvPr/>
        </p:nvSpPr>
        <p:spPr>
          <a:xfrm rot="0" flipH="0" flipV="0">
            <a:off x="723900" y="44577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空转最久的车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先看排班是不是排多了</a:t>
            </a:r>
            <a:endParaRPr/>
          </a:p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609600" y="4791075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723900" y="47625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电耗高于队均的车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先查驾驶习惯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609600" y="5095875"/>
            <a:ext cx="381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788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23900" y="5067300"/>
            <a:ext cx="3048000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出车率偏低的分公司</a:t>
            </a:r>
            <a:r>
              <a:rPr lang="en-US" sz="938">
                <a:solidFill>
                  <a:srgbClr val="4B5563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>
                <a:solidFill>
                  <a:srgbClr val="4B5563"/>
                </a:solidFill>
                <a:latin typeface="Microsoft YaHei"/>
                <a:ea typeface="Microsoft YaHei"/>
              </a:rPr>
              <a:t>单独看运力够不够</a:t>
            </a:r>
            <a:endParaRPr/>
          </a:p>
        </p:txBody>
      </p:sp>
      <p:sp>
        <p:nvSpPr>
          <p:cNvPr id="532" name=""/>
          <p:cNvSpPr/>
          <p:nvPr/>
        </p:nvSpPr>
        <p:spPr>
          <a:xfrm rot="0" flipH="0" flipV="0">
            <a:off x="609600" y="5295900"/>
            <a:ext cx="3390900" cy="1238250"/>
          </a:xfrm>
          <a:prstGeom prst="roundRect">
            <a:avLst>
              <a:gd name="adj" fmla="val 3077"/>
            </a:avLst>
          </a:prstGeom>
          <a:solidFill>
            <a:srgbClr val="111827"/>
          </a:solidFill>
          <a:ln/>
        </p:spPr>
        <p:txBody>
          <a:bodyPr/>
          <a:p/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781050" y="5419725"/>
            <a:ext cx="3048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省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在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哪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81050" y="5638800"/>
            <a:ext cx="3048000" cy="77152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938">
                <a:solidFill>
                  <a:srgbClr val="E5E7EB"/>
                </a:solidFill>
                <a:latin typeface="Microsoft YaHei"/>
                <a:ea typeface="Microsoft YaHei"/>
              </a:rPr>
              <a:t>电耗高的车先查驾驶习惯，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E5E7EB"/>
                </a:solidFill>
                <a:latin typeface="Microsoft YaHei"/>
                <a:ea typeface="Microsoft YaHei"/>
              </a:rPr>
              <a:t>空转多的线路先调排班——</a:t>
            </a:r>
            <a:endParaRPr/>
          </a:p>
          <a:p>
            <a:pPr>
              <a:lnSpc>
                <a:spcPct val="180000"/>
              </a:lnSpc>
            </a:pPr>
            <a:r>
              <a:rPr lang="zh-CN" sz="938">
                <a:solidFill>
                  <a:srgbClr val="E5E7EB"/>
                </a:solidFill>
                <a:latin typeface="Microsoft YaHei"/>
                <a:ea typeface="Microsoft YaHei"/>
              </a:rPr>
              <a:t>省下来的都是纯利润。</a:t>
            </a:r>
            <a:endParaRPr/>
          </a:p>
        </p:txBody>
      </p:sp>
      <p:pic>
        <p:nvPicPr>
          <p:cNvPr id="535" name=""/>
          <p:cNvPicPr>
            <a:picLocks noChangeAspect="1"/>
          </p:cNvPicPr>
          <p:nvPr/>
        </p:nvPicPr>
        <p:blipFill>
          <a:blip r:embed="rId1"/>
          <a:srcRect l="46" t="0" r="46" b="0"/>
          <a:stretch>
            <a:fillRect/>
          </a:stretch>
        </p:blipFill>
        <p:spPr>
          <a:xfrm rot="0" flipH="0" flipV="0">
            <a:off x="4305300" y="1162050"/>
            <a:ext cx="7105650" cy="3971925"/>
          </a:xfrm>
          <a:prstGeom prst="rect">
            <a:avLst/>
          </a:prstGeom>
          <a:ln/>
        </p:spPr>
      </p:pic>
      <p:sp>
        <p:nvSpPr>
          <p:cNvPr id="536" name=""/>
          <p:cNvSpPr/>
          <p:nvPr/>
        </p:nvSpPr>
        <p:spPr>
          <a:xfrm rot="0" flipH="0" flipV="0">
            <a:off x="4305300" y="5305425"/>
            <a:ext cx="133350" cy="190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537" name="" descr="{&quot;isTemplate&quot;:true,&quot;type&quot;:&quot;text&quot;}"/>
          <p:cNvSpPr txBox="1"/>
          <p:nvPr/>
        </p:nvSpPr>
        <p:spPr>
          <a:xfrm rot="0" flipH="0" flipV="0">
            <a:off x="4533900" y="5248275"/>
            <a:ext cx="3181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月度车队分析报告：里程、电耗、驾驶行为、能耗排名，一次生成</a:t>
            </a:r>
            <a:endParaRPr/>
          </a:p>
        </p:txBody>
      </p:sp>
      <p:sp>
        <p:nvSpPr>
          <p:cNvPr id="538" name=""/>
          <p:cNvSpPr/>
          <p:nvPr/>
        </p:nvSpPr>
        <p:spPr>
          <a:xfrm rot="0" flipH="0" flipV="0">
            <a:off x="4305300" y="5514975"/>
            <a:ext cx="1104900" cy="266700"/>
          </a:xfrm>
          <a:prstGeom prst="roundRect">
            <a:avLst>
              <a:gd name="adj" fmla="val 10714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539" name="" descr="{&quot;isTemplate&quot;:true,&quot;type&quot;:&quot;text&quot;}"/>
          <p:cNvSpPr txBox="1"/>
          <p:nvPr/>
        </p:nvSpPr>
        <p:spPr>
          <a:xfrm rot="0" flipH="0" flipV="0">
            <a:off x="4419600" y="5581650"/>
            <a:ext cx="8763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B5563"/>
                </a:solidFill>
                <a:latin typeface="Microsoft YaHei"/>
                <a:ea typeface="Microsoft YaHei"/>
              </a:rPr>
              <a:t>车队档案一目了然</a:t>
            </a:r>
            <a:endParaRPr/>
          </a:p>
        </p:txBody>
      </p:sp>
      <p:sp>
        <p:nvSpPr>
          <p:cNvPr id="540" name=""/>
          <p:cNvSpPr/>
          <p:nvPr/>
        </p:nvSpPr>
        <p:spPr>
          <a:xfrm rot="0" flipH="0" flipV="0">
            <a:off x="5505450" y="5514975"/>
            <a:ext cx="885825" cy="266700"/>
          </a:xfrm>
          <a:prstGeom prst="roundRect">
            <a:avLst>
              <a:gd name="adj" fmla="val 10714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5619750" y="55816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B5563"/>
                </a:solidFill>
                <a:latin typeface="Microsoft YaHei"/>
                <a:ea typeface="Microsoft YaHei"/>
              </a:rPr>
              <a:t>分段路况电耗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486525" y="5514975"/>
            <a:ext cx="885825" cy="266700"/>
          </a:xfrm>
          <a:prstGeom prst="roundRect">
            <a:avLst>
              <a:gd name="adj" fmla="val 10714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543" name="" descr="{&quot;isTemplate&quot;:true,&quot;type&quot;:&quot;text&quot;}"/>
          <p:cNvSpPr txBox="1"/>
          <p:nvPr/>
        </p:nvSpPr>
        <p:spPr>
          <a:xfrm rot="0" flipH="0" flipV="0">
            <a:off x="6600825" y="55816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B5563"/>
                </a:solidFill>
                <a:latin typeface="Microsoft YaHei"/>
                <a:ea typeface="Microsoft YaHei"/>
              </a:rPr>
              <a:t>驾驶行为排名</a:t>
            </a:r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7467600" y="5514975"/>
            <a:ext cx="885825" cy="266700"/>
          </a:xfrm>
          <a:prstGeom prst="roundRect">
            <a:avLst>
              <a:gd name="adj" fmla="val 10714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7581900" y="5581650"/>
            <a:ext cx="657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B5563"/>
                </a:solidFill>
                <a:latin typeface="Microsoft YaHei"/>
                <a:ea typeface="Microsoft YaHei"/>
              </a:rPr>
              <a:t>单车能耗对比</a:t>
            </a:r>
            <a:endParaRPr/>
          </a:p>
        </p:txBody>
      </p:sp>
      <p:sp>
        <p:nvSpPr>
          <p:cNvPr id="546" name=""/>
          <p:cNvSpPr/>
          <p:nvPr/>
        </p:nvSpPr>
        <p:spPr>
          <a:xfrm rot="0" flipH="0" flipV="0">
            <a:off x="8448675" y="5514975"/>
            <a:ext cx="666750" cy="266700"/>
          </a:xfrm>
          <a:prstGeom prst="roundRect">
            <a:avLst>
              <a:gd name="adj" fmla="val 10714"/>
            </a:avLst>
          </a:prstGeom>
          <a:ln w="12700">
            <a:solidFill>
              <a:srgbClr val="E0E4EA"/>
            </a:solidFill>
            <a:prstDash val="solid"/>
          </a:ln>
        </p:spPr>
        <p:txBody>
          <a:bodyPr/>
          <a:p/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8562975" y="5581650"/>
            <a:ext cx="4381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>
                <a:solidFill>
                  <a:srgbClr val="4B5563"/>
                </a:solidFill>
                <a:latin typeface="Microsoft YaHei"/>
                <a:ea typeface="Microsoft YaHei"/>
              </a:rPr>
              <a:t>能耗趋势</a:t>
            </a:r>
            <a:endParaRPr/>
          </a:p>
        </p:txBody>
      </p:sp>
      <p:sp>
        <p:nvSpPr>
          <p:cNvPr id="548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11229975" y="658177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09 / 14</a:t>
            </a:r>
            <a:endParaRPr/>
          </a:p>
        </p:txBody>
      </p:sp>
    </p:spTree>
  </p:cSld>
</p:sld>
</file>

<file path=ppt/slides/slide10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25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09　司机端 · 小程序&lt;/Text&gt;&#10;            &lt;Text style={{ fontSize: 34, color: '#111827', fontWeight: 700, lineHeight: 1.2, marginTop: 6 }}&gt;手机就是工作台，不用回办公室&lt;/Text&gt;&#10;        &lt;/Box&gt;&#10;        &lt;Box style={{ flex: 1 }} /&gt;&#10;        &lt;Text style={{ fontSize: 13, color: '#6B7280', marginTop: 34 }}&gt;微信打开就能用，不用装新软件&lt;/Text&gt;&#10;    &lt;/Box&gt;&#10;&#10;    &lt;Box style={{ flex: 1, flexDirection: 'row', gap: 40, paddingTop: 2 }}&gt;&#10;        &lt;Box style={{ width: 470, flexDirection: 'column' }}&gt;&#10;            &lt;Box style={{ background: '#F4F5F7', borderRadius: 6, padding: '24px 24px 18px 24px', flexDirection: 'column' }}&gt;&#10;                &lt;Image src=&quot;assets/card_recurring.png&quot; style={{ width: 430, height: 306 }} /&gt;&#10;                &lt;Box style={{ flexDirection: 'row', alignItems: 'center', gap: 8, marginTop: 14 }}&gt;&#10;                    &lt;Box style={{ width: 5, height: 5, background: '#C8102E' }} /&gt;&#10;                    &lt;Text style={{ fontSize: 11.5, color: '#6B7280' }}&gt;常驻任务：一趟排好，司机每趟点&quot;接一趟&quot;即可&lt;/Text&gt;&#10;                &lt;/Box&gt;&#10;            &lt;/Box&gt;&#10;            &lt;Text style={{ fontSize: 13.5, color: '#4B5563', lineHeight: 1.8, marginTop: 16 }}&gt;&#10;                司机不用记流程，手机上只有&lt;Text style={{ fontWeight: 700 }}&gt;该他做的那一步&lt;/Text&gt;；&lt;br /&gt;&#10;                做完点一下，管理端马上就能看到。&#10;            &lt;/Text&gt;&#10;        &lt;/Box&gt;&#10;&#10;        &lt;Box style={{ flex: 1, flexDirection: 'column', gap: 12, height: 484 }}&gt;&#10;            {[&#10;                ['接单', '一键接这一趟', '看到起点、终点、货物和约定时间，点&quot;接一趟&quot;就算接了，谁接的自动记上'],&#10;                ['装车', '拍张照就算装完', '到装货地拍货、拍车厢，位置和时间一起带上，不需要另填单子'],&#10;                ['发车 / 到达', '到点打卡，不用打电话', '确认发车、确认到达各点一次，管理端立刻看到车到哪了'],&#10;                ['上报费用', '路上花的钱当场报', '过路费、加油、装卸，拍票据就能报，不用等回公司补单']&#10;            ].map((it, i) =&gt; (&#10;                &lt;Box key={i} style={{ flex: 1, flexDirection: 'row', gap: 14, background: '#F4F5F7', borderRadius: 4, padding: '16px 18px' }}&gt;&#10;                    &lt;Box style={{ width: 34, height: 34, borderRadius: '50%', background: '#111827', justifyContent: 'center', alignItems: 'center' }}&gt;&#10;                        &lt;Text style={{ fontSize: 11, color: '#FFFFFF', fontWeight: 800 }}&gt;{'0' + (i + 1)}&lt;/Text&gt;&#10;                    &lt;/Box&gt;&#10;                    &lt;Box style={{ flexDirection: 'column', flex: 1 }}&gt;&#10;                        &lt;Box style={{ flexDirection: 'row', alignItems: 'baseline', gap: 10 }}&gt;&#10;                            &lt;Text style={{ fontSize: 16, color: '#111827', fontWeight: 700 }}&gt;{it[0]}&lt;/Text&gt;&#10;                            &lt;Text style={{ fontSize: 12.5, color: '#C8102E', fontWeight: 700 }}&gt;{it[1]}&lt;/Text&gt;&#10;                        &lt;/Box&gt;&#10;                        &lt;Text style={{ fontSize: 12.5, color: '#6B7280', lineHeight: 1.7, marginTop: 4 }}&gt;{it[2]}&lt;/Text&gt;&#10;                    &lt;/Box&gt;&#10;                &lt;/Box&gt;&#10;            ))}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10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7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09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司机端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手机就是工作台，不用回办公室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9848850" y="704850"/>
            <a:ext cx="17335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微信打开就能用，不用装新软件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143000"/>
            <a:ext cx="4476750" cy="3581400"/>
          </a:xfrm>
          <a:prstGeom prst="roundRect">
            <a:avLst>
              <a:gd name="adj" fmla="val 1596"/>
            </a:avLst>
          </a:prstGeom>
          <a:solidFill>
            <a:srgbClr val="F4F5F7"/>
          </a:solidFill>
          <a:ln/>
        </p:spPr>
        <p:txBody>
          <a:bodyPr/>
          <a:p/>
        </p:txBody>
      </p:sp>
      <p:pic>
        <p:nvPicPr>
          <p:cNvPr id="32" name=""/>
          <p:cNvPicPr>
            <a:picLocks noChangeAspect="1"/>
          </p:cNvPicPr>
          <p:nvPr/>
        </p:nvPicPr>
        <p:blipFill>
          <a:blip r:embed="rId1"/>
          <a:srcRect l="0" t="40" r="0" b="40"/>
          <a:stretch>
            <a:fillRect/>
          </a:stretch>
        </p:blipFill>
        <p:spPr>
          <a:xfrm rot="0" flipH="0" flipV="0">
            <a:off x="838200" y="1371600"/>
            <a:ext cx="4095750" cy="2914650"/>
          </a:xfrm>
          <a:prstGeom prst="rect">
            <a:avLst/>
          </a:prstGeom>
          <a:ln/>
        </p:spPr>
      </p:pic>
      <p:sp>
        <p:nvSpPr>
          <p:cNvPr id="33" name=""/>
          <p:cNvSpPr/>
          <p:nvPr/>
        </p:nvSpPr>
        <p:spPr>
          <a:xfrm rot="0" flipH="0" flipV="0">
            <a:off x="838200" y="4467225"/>
            <a:ext cx="47625" cy="476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962025" y="4419600"/>
            <a:ext cx="22764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常驻任务：一趟排好，司机每趟点</a:t>
            </a:r>
            <a:r>
              <a:rPr lang="en-US" sz="863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接一趟</a:t>
            </a:r>
            <a:r>
              <a:rPr lang="en-US" sz="863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即可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09600" y="4876800"/>
            <a:ext cx="4476750" cy="561975"/>
          </a:xfrm>
          <a:prstGeom prst="rect"/>
        </p:spPr>
        <p:txBody>
          <a:bodyPr wrap="none" lIns="0" tIns="0" rIns="0" bIns="0"/>
          <a:p>
            <a:pPr>
              <a:lnSpc>
                <a:spcPct val="18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司机不用记流程，手机上只有</a:t>
            </a: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该他做的那一步</a:t>
            </a: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；</a:t>
            </a:r>
            <a:endParaRPr/>
          </a:p>
          <a:p>
            <a:pPr>
              <a:lnSpc>
                <a:spcPct val="180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做完点一下，管理端马上就能看到。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5467350" y="1143000"/>
            <a:ext cx="6115050" cy="106680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37" name=""/>
          <p:cNvSpPr/>
          <p:nvPr/>
        </p:nvSpPr>
        <p:spPr>
          <a:xfrm rot="0" flipH="0" flipV="0">
            <a:off x="5638800" y="12954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5743575" y="13906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6096000" y="12954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接单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6496050" y="1295400"/>
            <a:ext cx="7143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一键接这一趟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6096000" y="15240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看到起点、终点、货物和约定时间，点</a:t>
            </a:r>
            <a:r>
              <a:rPr lang="en-US" sz="93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接一趟</a:t>
            </a:r>
            <a:r>
              <a:rPr lang="en-US" sz="938">
                <a:solidFill>
                  <a:srgbClr val="6B7280"/>
                </a:solidFill>
                <a:latin typeface="Microsoft YaHei"/>
                <a:ea typeface="Microsoft YaHei"/>
              </a:rPr>
              <a:t>"</a:t>
            </a: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就算接了，谁接的自动记上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5467350" y="2324100"/>
            <a:ext cx="6115050" cy="106680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3" name=""/>
          <p:cNvSpPr/>
          <p:nvPr/>
        </p:nvSpPr>
        <p:spPr>
          <a:xfrm rot="0" flipH="0" flipV="0">
            <a:off x="5638800" y="24765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5743575" y="25717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6096000" y="2476500"/>
            <a:ext cx="304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装车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6496050" y="24765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拍张照就算装完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0" y="27051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到装货地拍货、拍车厢，位置和时间一起带上，不需要另填单子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5467350" y="3505200"/>
            <a:ext cx="6115050" cy="106680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49" name=""/>
          <p:cNvSpPr/>
          <p:nvPr/>
        </p:nvSpPr>
        <p:spPr>
          <a:xfrm rot="0" flipH="0" flipV="0">
            <a:off x="5638800" y="36576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5743575" y="37528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096000" y="3657600"/>
            <a:ext cx="7429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发车</a:t>
            </a:r>
            <a:r>
              <a:rPr lang="en-US" sz="1200" b="1">
                <a:solidFill>
                  <a:srgbClr val="111827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到达</a:t>
            </a:r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6934200" y="3657600"/>
            <a:ext cx="1190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到点打卡，不用打电话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6096000" y="38862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确认发车、确认到达各点一次，管理端立刻看到车到哪了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5467350" y="4686300"/>
            <a:ext cx="6115050" cy="1066800"/>
          </a:xfrm>
          <a:prstGeom prst="roundRect">
            <a:avLst>
              <a:gd name="adj" fmla="val 3571"/>
            </a:avLst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5638800" y="4838700"/>
            <a:ext cx="323850" cy="323850"/>
          </a:xfrm>
          <a:custGeom>
            <a:pathLst>
              <a:path w="34" h="34">
                <a:moveTo>
                  <a:pt x="17" y="0"/>
                </a:moveTo>
                <a:lnTo>
                  <a:pt x="17" y="0"/>
                </a:lnTo>
                <a:cubicBezTo>
                  <a:pt x="26" y="0"/>
                  <a:pt x="34" y="8"/>
                  <a:pt x="34" y="17"/>
                </a:cubicBezTo>
                <a:lnTo>
                  <a:pt x="34" y="17"/>
                </a:lnTo>
                <a:cubicBezTo>
                  <a:pt x="34" y="26"/>
                  <a:pt x="26" y="34"/>
                  <a:pt x="17" y="34"/>
                </a:cubicBezTo>
                <a:lnTo>
                  <a:pt x="17" y="34"/>
                </a:lnTo>
                <a:cubicBezTo>
                  <a:pt x="8" y="34"/>
                  <a:pt x="0" y="26"/>
                  <a:pt x="0" y="17"/>
                </a:cubicBezTo>
                <a:lnTo>
                  <a:pt x="0" y="17"/>
                </a:lnTo>
                <a:cubicBezTo>
                  <a:pt x="0" y="8"/>
                  <a:pt x="8" y="0"/>
                  <a:pt x="17" y="0"/>
                </a:cubicBezTo>
                <a:close/>
              </a:path>
            </a:pathLst>
          </a:custGeom>
          <a:solidFill>
            <a:srgbClr val="111827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5743575" y="4933950"/>
            <a:ext cx="1238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6096000" y="483870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11827"/>
                </a:solidFill>
                <a:latin typeface="Microsoft YaHei"/>
                <a:ea typeface="Microsoft YaHei"/>
              </a:rPr>
              <a:t>上报费用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800850" y="4838700"/>
            <a:ext cx="952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C8102E"/>
                </a:solidFill>
                <a:latin typeface="Microsoft YaHei"/>
                <a:ea typeface="Microsoft YaHei"/>
              </a:rPr>
              <a:t>路上花的钱当场报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096000" y="5067300"/>
            <a:ext cx="5314950" cy="24765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38">
                <a:solidFill>
                  <a:srgbClr val="6B7280"/>
                </a:solidFill>
                <a:latin typeface="Microsoft YaHei"/>
                <a:ea typeface="Microsoft YaHei"/>
              </a:rPr>
              <a:t>过路费、加油、装卸，拍票据就能报，不用等回公司补单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10 / 14</a:t>
            </a:r>
            <a:endParaRPr/>
          </a:p>
        </p:txBody>
      </p:sp>
    </p:spTree>
  </p:cSld>
</p:sld>
</file>

<file path=ppt/slides/slide11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62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10　财务端 · 小程序&lt;/Text&gt;&#10;            &lt;Text style={{ fontSize: 34, color: '#111827', fontWeight: 700, lineHeight: 1.2, marginTop: 6 }}&gt;审批和付钱，在手机上就办完了&lt;/Text&gt;&#10;        &lt;/Box&gt;&#10;    &lt;/Box&gt;&#10;&#10;    &lt;Box style={{ flex: 1, flexDirection: 'row', gap: 30, paddingTop: 2 }}&gt;&#10;        &lt;Box style={{ width: 280, flexDirection: 'column' }}&gt;&#10;            &lt;Text style={{ fontSize: 14.5, color: '#374151', lineHeight: 1.8 }}&gt;&#10;                财务最烦的是&quot;凑齐&quot;——单子、票、签字跑三个地方。现在&lt;Text style={{ fontWeight: 700 }}&gt;该审的、该付的、付过的&lt;/Text&gt;都在一个手机里。&#10;            &lt;/Text&gt;&#10;            &lt;Box style={{ flexDirection: 'column', gap: 14, marginTop: 20 }}&gt;&#10;                {[&#10;                    ['待办', '今天几笔要审、几笔要付，一进来就看到'],&#10;                    ['审批', '金额、凭证、上报人同屏，点通过或驳回'],&#10;                    ['台账', '已审、已付、已驳回分册，随时能查'],&#10;                    ['统计', '本月花了多少，按类型排个序']&#10;                ].map((it, i) =&gt; (&#10;                    &lt;Box key={i} style={{ flexDirection: 'row', gap: 10 }}&gt;&#10;                        &lt;Box style={{ width: 2, background: '#C8102E', marginTop: 2 }} /&gt;&#10;                        &lt;Box style={{ flexDirection: 'column', width: 252 }}&gt;&#10;                            &lt;Text style={{ fontSize: 13.5, color: '#111827', fontWeight: 700 }}&gt;{it[0]}&lt;/Text&gt;&#10;                            &lt;Text style={{ fontSize: 11.5, color: '#6B7280', lineHeight: 1.65, marginTop: 3 }}&gt;{it[1]}&lt;/Text&gt;&#10;                        &lt;/Box&gt;&#10;                    &lt;/Box&gt;&#10;                ))}&#10;            &lt;/Box&gt;&#10;            &lt;Box style={{ flex: 1 }} /&gt;&#10;            &lt;Box style={{ background: '#111827', borderRadius: 4, padding: '14px 16px' }}&gt;&#10;                &lt;Text style={{ fontSize: 11.5, color: '#C8102E', fontWeight: 800, letterSpacing: 1 }}&gt;以 前 与 现 在&lt;/Text&gt;&#10;                &lt;Text style={{ fontSize: 12, color: '#E5E7EB', lineHeight: 1.7, marginTop: 7 }}&gt;&#10;                    以前月底才对一次账，&lt;br /&gt;现在钱走到哪一步，随时都看得到。&#10;                &lt;/Text&gt;&#10;            &lt;/Box&gt;&#10;        &lt;/Box&gt;&#10;&#10;        &lt;Box style={{ flex: 1, flexDirection: 'row', gap: 22, justifyContent: 'flex-start' }}&gt;&#10;            {[['assets/mp_todo.png', '待办：该我处理的都在最上面'], ['assets/mp_approve.png', '审批：金额、凭证、上报人一屏看清'], ['assets/mp_stat.png', '统计：本月花了多少、花在哪']].map((it, i) =&gt; (&#10;                &lt;Box key={i} style={{ flexDirection: 'column', width: 262 }}&gt;&#10;                    &lt;Image src={it[0]} style={{ width: 262, height: 506 }} /&gt;&#10;                    &lt;Text style={{ fontSize: 11, color: '#9AA3AF', lineHeight: 1.5, marginTop: 10, width: 256 }}&gt;{it[1]}&lt;/Text&gt;&#10;                &lt;/Box&gt;&#10;            ))}&#10;        &lt;/Box&gt;&#10;    &lt;/Box&gt;&#10;&#10;    &lt;Box style={{ height: 24, flexDirection: 'row', alignItems: 'center', marginTop: 6 }}&gt;&#10;        &lt;Text style={{ fontSize: 12, color: '#9AA3AF' }}&gt;车队一体化运营平台&lt;/Text&gt;&#10;        &lt;Box style={{ flex: 1 }} /&gt;&#10;        &lt;Text style={{ fontSize: 12, color: '#9AA3AF' }}&gt;11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4533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10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财务端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小程序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45339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审批和付钱，在手机上就办完了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609600" y="1143000"/>
            <a:ext cx="2667000" cy="895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0000"/>
              </a:lnSpc>
            </a:pP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财务最烦的是</a:t>
            </a:r>
            <a:r>
              <a:rPr lang="en-US" sz="1088">
                <a:solidFill>
                  <a:srgbClr val="374151"/>
                </a:solidFill>
                <a:latin typeface="Microsoft YaHei"/>
                <a:ea typeface="Microsoft YaHei"/>
              </a:rPr>
              <a:t>"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凑齐</a:t>
            </a:r>
            <a:r>
              <a:rPr lang="en-US" sz="1088">
                <a:solidFill>
                  <a:srgbClr val="374151"/>
                </a:solidFill>
                <a:latin typeface="Microsoft YaHei"/>
                <a:ea typeface="Microsoft YaHei"/>
              </a:rPr>
              <a:t>"——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单子、票、签字跑三个地方。现在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该审的、该付的、付过的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都在一个手机里。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609600" y="2247900"/>
            <a:ext cx="19050" cy="3905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723900" y="222885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待办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今天几笔要审、几笔要付，一进来就看到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2790825"/>
            <a:ext cx="19050" cy="3905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723900" y="277177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审批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23900" y="2962275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金额、凭证、上报人同屏，点通过或驳回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609600" y="3333750"/>
            <a:ext cx="19050" cy="3905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23900" y="3314700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台账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723900" y="3505200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已审、已付、已驳回分册，随时能查</a:t>
            </a:r>
            <a:endParaRPr/>
          </a:p>
        </p:txBody>
      </p:sp>
      <p:sp>
        <p:nvSpPr>
          <p:cNvPr id="77" name=""/>
          <p:cNvSpPr/>
          <p:nvPr/>
        </p:nvSpPr>
        <p:spPr>
          <a:xfrm rot="0" flipH="0" flipV="0">
            <a:off x="609600" y="3876675"/>
            <a:ext cx="19050" cy="39052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723900" y="3857625"/>
            <a:ext cx="24003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统计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23900" y="4048125"/>
            <a:ext cx="24003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本月花了多少，按类型排个序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609600" y="5410200"/>
            <a:ext cx="2667000" cy="933450"/>
          </a:xfrm>
          <a:prstGeom prst="roundRect">
            <a:avLst>
              <a:gd name="adj" fmla="val 4082"/>
            </a:avLst>
          </a:prstGeom>
          <a:solidFill>
            <a:srgbClr val="111827"/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762000" y="5543550"/>
            <a:ext cx="23622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b="1" spc="75">
                <a:solidFill>
                  <a:srgbClr val="C8102E"/>
                </a:solidFill>
                <a:latin typeface="Microsoft YaHei"/>
                <a:ea typeface="Microsoft YaHei"/>
              </a:rPr>
              <a:t>以</a:t>
            </a:r>
            <a:r>
              <a:rPr lang="en-US" sz="863" b="1" spc="75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 b="1" spc="75">
                <a:solidFill>
                  <a:srgbClr val="C8102E"/>
                </a:solidFill>
                <a:latin typeface="Microsoft YaHei"/>
                <a:ea typeface="Microsoft YaHei"/>
              </a:rPr>
              <a:t>前</a:t>
            </a:r>
            <a:r>
              <a:rPr lang="en-US" sz="863" b="1" spc="75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 b="1" spc="75">
                <a:solidFill>
                  <a:srgbClr val="C8102E"/>
                </a:solidFill>
                <a:latin typeface="Microsoft YaHei"/>
                <a:ea typeface="Microsoft YaHei"/>
              </a:rPr>
              <a:t>与</a:t>
            </a:r>
            <a:r>
              <a:rPr lang="en-US" sz="863" b="1" spc="75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 b="1" spc="75">
                <a:solidFill>
                  <a:srgbClr val="C8102E"/>
                </a:solidFill>
                <a:latin typeface="Microsoft YaHei"/>
                <a:ea typeface="Microsoft YaHei"/>
              </a:rPr>
              <a:t>现</a:t>
            </a:r>
            <a:r>
              <a:rPr lang="en-US" sz="863" b="1" spc="75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863" b="1" spc="75">
                <a:solidFill>
                  <a:srgbClr val="C8102E"/>
                </a:solidFill>
                <a:latin typeface="Microsoft YaHei"/>
                <a:ea typeface="Microsoft YaHei"/>
              </a:rPr>
              <a:t>在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762000" y="5743575"/>
            <a:ext cx="2362200" cy="4667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E5E7EB"/>
                </a:solidFill>
                <a:latin typeface="Microsoft YaHei"/>
                <a:ea typeface="Microsoft YaHei"/>
              </a:rPr>
              <a:t>以前月底才对一次账，</a:t>
            </a:r>
            <a:endParaRPr/>
          </a:p>
          <a:p>
            <a:pPr>
              <a:lnSpc>
                <a:spcPct val="170000"/>
              </a:lnSpc>
            </a:pPr>
            <a:r>
              <a:rPr lang="zh-CN" sz="900">
                <a:solidFill>
                  <a:srgbClr val="E5E7EB"/>
                </a:solidFill>
                <a:latin typeface="Microsoft YaHei"/>
                <a:ea typeface="Microsoft YaHei"/>
              </a:rPr>
              <a:t>现在钱走到哪一步，随时都看得到。</a:t>
            </a:r>
            <a:endParaRPr/>
          </a:p>
        </p:txBody>
      </p:sp>
      <p:pic>
        <p:nvPicPr>
          <p:cNvPr id="83" name=""/>
          <p:cNvPicPr>
            <a:picLocks noChangeAspect="1"/>
          </p:cNvPicPr>
          <p:nvPr/>
        </p:nvPicPr>
        <p:blipFill>
          <a:blip r:embed="rId1"/>
          <a:srcRect l="97" t="0" r="97" b="0"/>
          <a:stretch>
            <a:fillRect/>
          </a:stretch>
        </p:blipFill>
        <p:spPr>
          <a:xfrm rot="0" flipH="0" flipV="0">
            <a:off x="3562350" y="1143000"/>
            <a:ext cx="2495550" cy="4819650"/>
          </a:xfrm>
          <a:prstGeom prst="rect">
            <a:avLst/>
          </a:prstGeom>
          <a:ln/>
        </p:spPr>
      </p:pic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3562350" y="60579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待办：该我处理的都在最上面</a:t>
            </a:r>
            <a:endParaRPr/>
          </a:p>
        </p:txBody>
      </p:sp>
      <p:pic>
        <p:nvPicPr>
          <p:cNvPr id="85" name=""/>
          <p:cNvPicPr>
            <a:picLocks noChangeAspect="1"/>
          </p:cNvPicPr>
          <p:nvPr/>
        </p:nvPicPr>
        <p:blipFill>
          <a:blip r:embed="rId2"/>
          <a:srcRect l="97" t="0" r="97" b="0"/>
          <a:stretch>
            <a:fillRect/>
          </a:stretch>
        </p:blipFill>
        <p:spPr>
          <a:xfrm rot="0" flipH="0" flipV="0">
            <a:off x="6267450" y="1143000"/>
            <a:ext cx="2495550" cy="4819650"/>
          </a:xfrm>
          <a:prstGeom prst="rect">
            <a:avLst/>
          </a:prstGeom>
          <a:ln/>
        </p:spPr>
      </p:pic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6267450" y="60579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审批：金额、凭证、上报人一屏看清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8972550" y="1143000"/>
            <a:ext cx="2495550" cy="481965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972550" y="6057900"/>
            <a:ext cx="2438400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9AA3AF"/>
                </a:solidFill>
                <a:latin typeface="Microsoft YaHei"/>
                <a:ea typeface="Microsoft YaHei"/>
              </a:rPr>
              <a:t>统计：本月花了多少、花在哪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11239500" y="6448425"/>
            <a:ext cx="3429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11 / 14</a:t>
            </a:r>
            <a:endParaRPr/>
          </a:p>
        </p:txBody>
      </p:sp>
    </p:spTree>
  </p:cSld>
</p:sld>
</file>

<file path=ppt/slides/slide12.xml><?xml version="1.0" encoding="utf-8"?>
<p:sld xmlns:r="http://schemas.openxmlformats.org/officeDocument/2006/relationships" xmlns:p="http://schemas.openxmlformats.org/presentationml/2006/main" xmlns:a="http://schemas.openxmlformats.org/drawingml/2006/main">
  <p:cSld>
    <p:spTree>
      <p:nvGrpSpPr>
        <p:cNvPr id="91" name="" descr="&lt;Slide style={{ width: 1280, height: 720, background: '#F4F5F7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11　组织与权限&lt;/Text&gt;&#10;            &lt;Text style={{ fontSize: 34, color: '#111827', fontWeight: 700, lineHeight: 1.2, marginTop: 6 }}&gt;谁能看什么，按角色配好&lt;/Text&gt;&#10;        &lt;/Box&gt;&#10;    &lt;/Box&gt;&#10;&#10;    &lt;Box style={{ flex: 1, flexDirection: 'row', gap: 34, paddingTop: 4 }}&gt;&#10;        &lt;Box style={{ width: 400, flexDirection: 'column' }}&gt;&#10;            &lt;Text style={{ fontSize: 14.5, color: '#374151', lineHeight: 1.85 }}&gt;&#10;                集团、分公司、车队、司机，本来就是一层管一层。&lt;br /&gt;&#10;                系统里照这个样子搭起来：&lt;Text style={{ fontWeight: 700 }}&gt;各看各的，越权看不到。&lt;/Text&gt;&#10;            &lt;/Text&gt;&#10;            &lt;Box style={{ flexDirection: 'column', gap: 12, marginTop: 20 }}&gt;&#10;                {[&#10;                    ['按组织分', '集团看全局，分公司只看自己那片车和人'],&#10;                    ['按角色分', '管理员、调度、财务、司机，能点的按钮不一样'],&#10;                    ['按业务分', '运单、费用、报表、车务，可以只开其中几项'],&#10;                    ['换人不用改系统', '人走了把角色一换就行，历史记录照样留着']&#10;                ].map((it, i) =&gt; (&#10;                    &lt;Box key={i} style={{ background: '#FFFFFF', borderRadius: 4, padding: '13px 16px', flexDirection: 'row', gap: 10 }}&gt;&#10;                        &lt;Text style={{ fontSize: 11, color: '#C8102E', fontWeight: 800, marginTop: 3 }}&gt;▪&lt;/Text&gt;&#10;                        &lt;Box style={{ flexDirection: 'column', width: 340 }}&gt;&#10;                            &lt;Text style={{ fontSize: 13.5, color: '#111827', fontWeight: 700 }}&gt;{it[0]}&lt;/Text&gt;&#10;                            &lt;Text style={{ fontSize: 11.5, color: '#6B7280', lineHeight: 1.65, marginTop: 3 }}&gt;{it[1]}&lt;/Text&gt;&#10;                        &lt;/Box&gt;&#10;                    &lt;/Box&gt;&#10;                ))}&#10;            &lt;/Box&gt;&#10;            &lt;Box style={{ flex: 1 }} /&gt;&#10;            &lt;Text style={{ fontSize: 11.5, color: '#9AA3AF', lineHeight: 1.6 }}&gt;&#10;                上线不用全公司一起动，先开一个分公司，跑顺了再往外铺。&#10;            &lt;/Text&gt;&#10;        &lt;/Box&gt;&#10;&#10;        &lt;Box style={{ flex: 1, flexDirection: 'column' }}&gt;&#10;            &lt;Image src=&quot;assets/shot_org.png&quot; style={{ width: 646, height: 473 }} /&gt;&#10;            &lt;Text style={{ fontSize: 11.5, color: '#9AA3AF', marginTop: 10 }}&gt;&#10;                一个账号挂在哪个组织、管几台车、有几个司机，一眼看清&#10;            &lt;/Text&gt;&#10;        &lt;/Box&gt;&#10;    &lt;/Box&gt;&#10;&#10;    &lt;Box style={{ height: 24, flexDirection: 'row', alignItems: 'center' }}&gt;&#10;        &lt;Text style={{ fontSize: 12, color: '#9AA3AF' }}&gt;车队一体化运营平台&lt;/Text&gt;&#10;        &lt;Box style={{ flex: 1 }} /&gt;&#10;        &lt;Text style={{ fontSize: 12, color: '#9AA3AF' }}&gt;12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4F5F7"/>
          </a:solidFill>
          <a:ln/>
        </p:spPr>
        <p:txBody>
          <a:bodyPr/>
          <a:p/>
        </p:txBody>
      </p:sp>
      <p:sp>
        <p:nvSpPr>
          <p:cNvPr id="93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562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11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组织与权限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56235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谁能看什么，按角色配好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3810000" cy="619125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集团、分公司、车队、司机，本来就是一层管一层。</a:t>
            </a:r>
            <a:endParaRPr/>
          </a:p>
          <a:p>
            <a:pPr>
              <a:lnSpc>
                <a:spcPct val="185000"/>
              </a:lnSpc>
            </a:pP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系统里照这个样子搭起来：</a:t>
            </a:r>
            <a:r>
              <a:rPr lang="zh-CN" sz="1088">
                <a:solidFill>
                  <a:srgbClr val="374151"/>
                </a:solidFill>
                <a:latin typeface="Microsoft YaHei"/>
                <a:ea typeface="Microsoft YaHei"/>
              </a:rPr>
              <a:t>各看各的，越权看不到。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09600" y="1971675"/>
            <a:ext cx="3810000" cy="65722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762000" y="2124075"/>
            <a:ext cx="381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95350" y="209550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按组织分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895350" y="228600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集团看全局，分公司只看自己那片车和人</a:t>
            </a:r>
            <a:endParaRPr/>
          </a:p>
        </p:txBody>
      </p:sp>
      <p:sp>
        <p:nvSpPr>
          <p:cNvPr id="101" name=""/>
          <p:cNvSpPr/>
          <p:nvPr/>
        </p:nvSpPr>
        <p:spPr>
          <a:xfrm rot="0" flipH="0" flipV="0">
            <a:off x="609600" y="2743200"/>
            <a:ext cx="3810000" cy="65722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762000" y="2895600"/>
            <a:ext cx="381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895350" y="286702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按角色分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895350" y="3057525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管理员、调度、财务、司机，能点的按钮不一样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3514725"/>
            <a:ext cx="3810000" cy="65722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762000" y="3667125"/>
            <a:ext cx="381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895350" y="3638550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按业务分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895350" y="3829050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运单、费用、报表、车务，可以只开其中几项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09600" y="4286250"/>
            <a:ext cx="3810000" cy="657225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762000" y="4438650"/>
            <a:ext cx="38100" cy="3810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825" b="1">
                <a:solidFill>
                  <a:srgbClr val="C8102E"/>
                </a:solidFill>
                <a:latin typeface="Microsoft YaHei"/>
                <a:ea typeface="Microsoft YaHei"/>
              </a:rPr>
              <a:t>▪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895350" y="44100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13" b="1">
                <a:solidFill>
                  <a:srgbClr val="111827"/>
                </a:solidFill>
                <a:latin typeface="Microsoft YaHei"/>
                <a:ea typeface="Microsoft YaHei"/>
              </a:rPr>
              <a:t>换人不用改系统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895350" y="4600575"/>
            <a:ext cx="3238500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6B7280"/>
                </a:solidFill>
                <a:latin typeface="Microsoft YaHei"/>
                <a:ea typeface="Microsoft YaHei"/>
              </a:rPr>
              <a:t>人走了把角色一换就行，历史记录照样留着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09600" y="6181725"/>
            <a:ext cx="3810000" cy="2190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上线不用全公司一起动，先开一个分公司，跑顺了再往外铺。</a:t>
            </a:r>
            <a:endParaRPr/>
          </a:p>
        </p:txBody>
      </p:sp>
      <p:pic>
        <p:nvPicPr>
          <p:cNvPr id="114" name=""/>
          <p:cNvPicPr>
            <a:picLocks noChangeAspect="1"/>
          </p:cNvPicPr>
          <p:nvPr/>
        </p:nvPicPr>
        <p:blipFill>
          <a:blip r:embed="rId1"/>
          <a:srcRect l="0" t="12" r="0" b="12"/>
          <a:stretch>
            <a:fillRect/>
          </a:stretch>
        </p:blipFill>
        <p:spPr>
          <a:xfrm rot="0" flipH="0" flipV="0">
            <a:off x="4743450" y="1162050"/>
            <a:ext cx="6153150" cy="4505325"/>
          </a:xfrm>
          <a:prstGeom prst="rect">
            <a:avLst/>
          </a:prstGeom>
          <a:ln/>
        </p:spPr>
      </p:pic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4743450" y="5762625"/>
            <a:ext cx="68389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一个账号挂在哪个组织、管几台车、有几个司机，一眼看清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12 / 14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18" name="" descr="&lt;Slide style={{ width: 1280, height: 720, background: '#FFFFFF', padding: '40px 64px 24px 64px', flexDirection: 'column' }}&gt;&#10;    &lt;Box style={{ height: 78, flexDirection: 'row', alignItems: 'flex-start' }}&gt;&#10;        &lt;Box style={{ width: 4, height: 30, background: '#C8102E', marginTop: 4 }} /&gt;&#10;        &lt;Box style={{ marginLeft: 14, flexDirection: 'column' }}&gt;&#10;            &lt;Text style={{ fontSize: 12, color: '#C8102E', fontWeight: 700, letterSpacing: 2 }}&gt;12　值多少&lt;/Text&gt;&#10;            &lt;Text style={{ fontSize: 34, color: '#111827', fontWeight: 700, lineHeight: 1.2, marginTop: 6 }}&gt;四件事，最直接的改变&lt;/Text&gt;&#10;        &lt;/Box&gt;&#10;        &lt;Box style={{ flex: 1 }} /&gt;&#10;        &lt;Text style={{ fontSize: 13, color: '#6B7280', marginTop: 34 }}&gt;都能在下个月的对账单上看见&lt;/Text&gt;&#10;    &lt;/Box&gt;&#10;&#10;    &lt;Box style={{ flex: 1, flexDirection: 'column', paddingTop: 4 }}&gt;&#10;        &lt;Box style={{ flexDirection: 'row', flex: 1 }}&gt;&#10;            {[&#10;                ['01', '省时间', '派单、催进度、对账，原来半天的事，现在几分钟。调度不用再当&quot;传话筒&quot;。', '原来：3 天对一次账'],&#10;                ['02', '省成本', '哪台车费电、谁急加速多、哪条线空跑，报告里点得出名字，就知道该管谁。', '原来：月底才知道超支']&#10;            ].map((it, i) =&gt; (&#10;                &lt;Box key={i} style={{ flex: 1, flexDirection: 'column', paddingRight: 34, borderRight: i === 0 ? '1px solid #E7E9EE' : 'none', paddingLeft: i === 1 ? 34 : 0 }}&gt;&#10;                    &lt;Text style={{ fontSize: 46, color: '#C8102E', fontWeight: 800, lineHeight: 1.0, letterSpacing: -1 }}&gt;{it[0]}&lt;/Text&gt;&#10;                    &lt;Text style={{ fontSize: 24, color: '#111827', fontWeight: 700, marginTop: 10, letterSpacing: 2 }}&gt;{it[1]}&lt;/Text&gt;&#10;                    &lt;Text style={{ fontSize: 13.5, color: '#4B5563', lineHeight: 1.85, marginTop: 10, width: 470 }}&gt;{it[2]}&lt;/Text&gt;&#10;                    &lt;Box style={{ flex: 1 }} /&gt;&#10;                    &lt;Text style={{ fontSize: 11.5, color: '#9AA3AF' }}&gt;{it[3]}&lt;/Text&gt;&#10;                &lt;/Box&gt;&#10;            ))}&#10;        &lt;/Box&gt;&#10;&#10;        &lt;Box style={{ height: 1, background: '#E7E9EE', marginTop: 22, marginBottom: 22 }} /&gt;&#10;&#10;        &lt;Box style={{ flexDirection: 'row', flex: 1 }}&gt;&#10;            {[&#10;                ['03', '少纠纷', '到场时间、费用凭证、审批记录都留着，扯皮时不用互相猜，翻记录就能说清。', '原来：各说各的，最后各让一步'],&#10;                ['04', '好决策', '哪条线赚钱、哪台车该换、哪个客户值不值得保，年底不再靠拍脑袋。', '原来：报表靠人拼，结论靠经验']&#10;            ].map((it, i) =&gt; (&#10;                &lt;Box key={i} style={{ flex: 1, flexDirection: 'column', paddingRight: 34, borderRight: i === 0 ? '1px solid #E7E9EE' : 'none', paddingLeft: i === 1 ? 34 : 0 }}&gt;&#10;                    &lt;Text style={{ fontSize: 46, color: '#C8102E', fontWeight: 800, lineHeight: 1.0, letterSpacing: -1 }}&gt;{it[0]}&lt;/Text&gt;&#10;                    &lt;Text style={{ fontSize: 24, color: '#111827', fontWeight: 700, marginTop: 10, letterSpacing: 2 }}&gt;{it[1]}&lt;/Text&gt;&#10;                    &lt;Text style={{ fontSize: 13.5, color: '#4B5563', lineHeight: 1.85, marginTop: 10, width: 470 }}&gt;{it[2]}&lt;/Text&gt;&#10;                    &lt;Box style={{ flex: 1 }} /&gt;&#10;                    &lt;Text style={{ fontSize: 11.5, color: '#9AA3AF' }}&gt;{it[3]}&lt;/Text&gt;&#10;                &lt;/Box&gt;&#10;            ))}&#10;        &lt;/Box&gt;&#10;&#10;        &lt;Box style={{ flexDirection: 'row', alignItems: 'center', background: '#111827', borderRadius: 4, padding: '16px 24px', marginTop: 20 }}&gt;&#10;            &lt;Text style={{ fontSize: 12, color: '#C8102E', fontWeight: 800, letterSpacing: 2, marginRight: 18 }}&gt;一 套 系 统&lt;/Text&gt;&#10;            &lt;Text style={{ fontSize: 15, color: '#E5E7EB' }}&gt;管理端看和定　·　司机端干和报　·　财务端审和付　——　三端同一份账&lt;/Text&gt;&#10;        &lt;/Box&gt;&#10;    &lt;/Box&gt;&#10;&#10;    &lt;Box style={{ height: 24, flexDirection: 'row', alignItems: 'center', marginTop: 8 }}&gt;&#10;        &lt;Text style={{ fontSize: 12, color: '#9AA3AF' }}&gt;车队一体化运营平台&lt;/Text&gt;&#10;        &lt;Box style={{ flex: 1 }} /&gt;&#10;        &lt;Text style={{ fontSize: 12, color: '#9AA3AF' }}&gt;13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609600" y="419100"/>
            <a:ext cx="38100" cy="28575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81050" y="381000"/>
            <a:ext cx="3238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12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　值多少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781050" y="581025"/>
            <a:ext cx="32385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111827"/>
                </a:solidFill>
                <a:latin typeface="Microsoft YaHei"/>
                <a:ea typeface="Microsoft YaHei"/>
              </a:rPr>
              <a:t>四件事，最直接的改变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9972675" y="704850"/>
            <a:ext cx="16097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B7280"/>
                </a:solidFill>
                <a:latin typeface="Microsoft YaHei"/>
                <a:ea typeface="Microsoft YaHei"/>
              </a:rPr>
              <a:t>都能在下个月的对账单上看见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609600" y="1162050"/>
            <a:ext cx="5495925" cy="1895475"/>
          </a:xfrm>
          <a:custGeom>
            <a:pathLst>
              <a:path w="577" h="199">
                <a:moveTo>
                  <a:pt x="576" y="0"/>
                </a:moveTo>
                <a:lnTo>
                  <a:pt x="577" y="0"/>
                </a:lnTo>
                <a:lnTo>
                  <a:pt x="577" y="199"/>
                </a:lnTo>
                <a:lnTo>
                  <a:pt x="576" y="199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609600" y="1162050"/>
            <a:ext cx="5153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 spc="-75">
                <a:solidFill>
                  <a:srgbClr val="C8102E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609600" y="1790700"/>
            <a:ext cx="5153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150">
                <a:solidFill>
                  <a:srgbClr val="111827"/>
                </a:solidFill>
                <a:latin typeface="Microsoft YaHei"/>
                <a:ea typeface="Microsoft YaHei"/>
              </a:rPr>
              <a:t>省时间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派单、催进度、对账，原来半天的事，现在几分钟。调度不用再当</a:t>
            </a:r>
            <a:r>
              <a:rPr lang="en-US" sz="101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传话筒</a:t>
            </a:r>
            <a:r>
              <a:rPr lang="en-US" sz="1013">
                <a:solidFill>
                  <a:srgbClr val="4B5563"/>
                </a:solidFill>
                <a:latin typeface="Microsoft YaHei"/>
                <a:ea typeface="Microsoft YaHei"/>
              </a:rPr>
              <a:t>"</a:t>
            </a: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609600" y="2924175"/>
            <a:ext cx="5153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原来：</a:t>
            </a:r>
            <a:r>
              <a:rPr lang="en-US" sz="863">
                <a:solidFill>
                  <a:srgbClr val="9AA3AF"/>
                </a:solidFill>
                <a:latin typeface="Microsoft YaHei"/>
                <a:ea typeface="Microsoft YaHei"/>
              </a:rPr>
              <a:t xml:space="preserve">3 </a:t>
            </a: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天对一次账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6419850" y="1162050"/>
            <a:ext cx="48387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 spc="-75">
                <a:solidFill>
                  <a:srgbClr val="C8102E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6419850" y="1790700"/>
            <a:ext cx="4838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150">
                <a:solidFill>
                  <a:srgbClr val="111827"/>
                </a:solidFill>
                <a:latin typeface="Microsoft YaHei"/>
                <a:ea typeface="Microsoft YaHei"/>
              </a:rPr>
              <a:t>省成本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6419850" y="2162175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哪台车费电、谁急加速多、哪条线空跑，报告里点得出名字，就知道该管谁。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6419850" y="2924175"/>
            <a:ext cx="483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原来：月底才知道超支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609600" y="3267075"/>
            <a:ext cx="10972800" cy="9525"/>
          </a:xfrm>
          <a:prstGeom prst="rect">
            <a:avLst/>
          </a:prstGeom>
          <a:solidFill>
            <a:srgbClr val="E7E9EE"/>
          </a:solidFill>
          <a:ln/>
        </p:spPr>
        <p:txBody>
          <a:bodyPr/>
          <a:p/>
        </p:txBody>
      </p:sp>
      <p:sp>
        <p:nvSpPr>
          <p:cNvPr id="134" name=""/>
          <p:cNvSpPr/>
          <p:nvPr/>
        </p:nvSpPr>
        <p:spPr>
          <a:xfrm rot="0" flipH="0" flipV="0">
            <a:off x="609600" y="3486150"/>
            <a:ext cx="5495925" cy="2171700"/>
          </a:xfrm>
          <a:custGeom>
            <a:pathLst>
              <a:path w="577" h="228">
                <a:moveTo>
                  <a:pt x="576" y="0"/>
                </a:moveTo>
                <a:lnTo>
                  <a:pt x="577" y="0"/>
                </a:lnTo>
                <a:lnTo>
                  <a:pt x="577" y="228"/>
                </a:lnTo>
                <a:lnTo>
                  <a:pt x="576" y="228"/>
                </a:lnTo>
                <a:close/>
              </a:path>
            </a:pathLst>
          </a:custGeom>
          <a:solidFill>
            <a:srgbClr val="E7E9EE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5153025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 spc="-75">
                <a:solidFill>
                  <a:srgbClr val="C8102E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09600" y="4114800"/>
            <a:ext cx="51530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150">
                <a:solidFill>
                  <a:srgbClr val="111827"/>
                </a:solidFill>
                <a:latin typeface="Microsoft YaHei"/>
                <a:ea typeface="Microsoft YaHei"/>
              </a:rPr>
              <a:t>少纠纷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09600" y="4486275"/>
            <a:ext cx="44767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85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到场时间、费用凭证、审批记录都留着，扯皮时不用互相猜，翻记录就能说清。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09600" y="5524500"/>
            <a:ext cx="51530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原来：各说各的，最后各让一步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419850" y="3486150"/>
            <a:ext cx="4838700" cy="533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450" b="1" spc="-75">
                <a:solidFill>
                  <a:srgbClr val="C8102E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6419850" y="4114800"/>
            <a:ext cx="4838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 spc="150">
                <a:solidFill>
                  <a:srgbClr val="111827"/>
                </a:solidFill>
                <a:latin typeface="Microsoft YaHei"/>
                <a:ea typeface="Microsoft YaHei"/>
              </a:rPr>
              <a:t>好决策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6419850" y="4486275"/>
            <a:ext cx="4476750" cy="285750"/>
          </a:xfrm>
          <a:prstGeom prst="rect"/>
        </p:spPr>
        <p:txBody>
          <a:bodyPr wrap="none" lIns="0" tIns="0" rIns="0" bIns="0"/>
          <a:p>
            <a:pPr>
              <a:lnSpc>
                <a:spcPct val="185000"/>
              </a:lnSpc>
            </a:pPr>
            <a:r>
              <a:rPr lang="zh-CN" sz="1013">
                <a:solidFill>
                  <a:srgbClr val="4B5563"/>
                </a:solidFill>
                <a:latin typeface="Microsoft YaHei"/>
                <a:ea typeface="Microsoft YaHei"/>
              </a:rPr>
              <a:t>哪条线赚钱、哪台车该换、哪个客户值不值得保，年底不再靠拍脑袋。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6419850" y="5524500"/>
            <a:ext cx="48387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原来：报表靠人拼，结论靠经验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09600" y="5848350"/>
            <a:ext cx="10972800" cy="476250"/>
          </a:xfrm>
          <a:prstGeom prst="roundRect">
            <a:avLst>
              <a:gd name="adj" fmla="val 8000"/>
            </a:avLst>
          </a:prstGeom>
          <a:solidFill>
            <a:srgbClr val="111827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6019800"/>
            <a:ext cx="695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一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套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系</a:t>
            </a:r>
            <a:r>
              <a:rPr lang="en-US" sz="900" b="1" spc="150">
                <a:solidFill>
                  <a:srgbClr val="C8102E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00" b="1" spc="150">
                <a:solidFill>
                  <a:srgbClr val="C8102E"/>
                </a:solidFill>
                <a:latin typeface="Microsoft YaHei"/>
                <a:ea typeface="Microsoft YaHei"/>
              </a:rPr>
              <a:t>统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1704975" y="6000750"/>
            <a:ext cx="466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E5E7EB"/>
                </a:solidFill>
                <a:latin typeface="Microsoft YaHei"/>
                <a:ea typeface="Microsoft YaHei"/>
              </a:rPr>
              <a:t>管理端看和定　·　司机端干和报　·　财务端审和付　——　三端同一份账</a:t>
            </a:r>
            <a:endParaRPr/>
          </a:p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09600" y="6448425"/>
            <a:ext cx="102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11229975" y="6448425"/>
            <a:ext cx="3524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>13 / 14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48" name="" descr="&lt;Slide style={{ width: 1280, height: 720, background: 'linear-gradient(135deg, #111827 0%, #1E2635 100%)', padding: '0px', position: 'relative', overflow: 'hidden' }}&gt;&#10;    &lt;Box style={{ position: 'absolute', right: 60, top: 70, width: 430, height: 430, borderRadius: '50%', border: '1px solid rgba(200,16,46,0.35)' }} /&gt;&#10;    &lt;Box style={{ position: 'absolute', right: 165, top: 175, width: 220, height: 220, borderRadius: '50%', border: '1px solid rgba(255,255,255,0.09)' }} /&gt;&#10;&#10;    &lt;Box style={{ position: 'absolute', left: 84, top: 196, width: 780, flexDirection: 'column' }}&gt;&#10;        &lt;Box style={{ flexDirection: 'row', alignItems: 'center', gap: 10, marginBottom: 24 }}&gt;&#10;            &lt;Box style={{ width: 28, height: 3, background: '#C8102E' }} /&gt;&#10;            &lt;Text style={{ fontSize: 12.5, color: '#E5E7EB', fontWeight: 700, letterSpacing: 3 }}&gt;怎 么 落 地&lt;/Text&gt;&#10;        &lt;/Box&gt;&#10;        &lt;Text style={{ fontSize: 58, color: '#FFFFFF', fontWeight: 800, lineHeight: 1.18, letterSpacing: 1 }}&gt;&#10;            让每一趟车，&lt;Text style={{ fontSize: 58, color: '#FF4D63', fontWeight: 800 }}&gt;都算得清。&lt;/Text&gt;&#10;        &lt;/Text&gt;&#10;&#10;        &lt;Box style={{ flexDirection: 'row', gap: 18, marginTop: 48 }}&gt;&#10;            {[['①', '挑一条线试跑两周', '先跑一条常跑的线，把单、车、钱跑通'], ['②', '把台账搬上来', '运价、客户、货物先录，报表才有底'], ['③', '按角色开账号', '调度、司机、财务各开各的，跑顺再铺']].map((it, i) =&gt; (&#10;                &lt;Box key={i} style={{ width: 244, flexDirection: 'column' }}&gt;&#10;                    &lt;Text style={{ fontSize: 20, color: '#FF4D63', fontWeight: 800 }}&gt;{it[0]}&lt;/Text&gt;&#10;                    &lt;Text style={{ fontSize: 14.5, color: '#FFFFFF', fontWeight: 700, marginTop: 8 }}&gt;{it[1]}&lt;/Text&gt;&#10;                    &lt;Text style={{ fontSize: 11.5, color: '#9AA3AF', lineHeight: 1.7, marginTop: 6 }}&gt;{it[2]}&lt;/Text&gt;&#10;                &lt;/Box&gt;&#10;            ))}&#10;        &lt;/Box&gt;&#10;&#10;        &lt;Box style={{ width: 720, height: 1, background: 'rgba(255,255,255,0.14)', marginTop: 58 }} /&gt;&#10;        &lt;Box style={{ flexDirection: 'row', alignItems: 'baseline', gap: 12, marginTop: 24 }}&gt;&#10;            &lt;Text style={{ fontSize: 30, color: '#FFFFFF', fontWeight: 800, letterSpacing: 1 }}&gt;两周&lt;/Text&gt;&#10;            &lt;Text style={{ fontSize: 13, color: '#9AA3AF' }}&gt;先跑一条线，两周就能看出差别——单子清不清、账对不对、车在哪一眼能不能看到。&lt;/Text&gt;&#10;        &lt;/Box&gt;&#10;&#10;        &lt;Box style={{ flexDirection: 'row', alignItems: 'center', gap: 16, marginTop: 22 }}&gt;&#10;            &lt;Box style={{ background: '#C8102E', borderRadius: 3, padding: '12px 22px' }}&gt;&#10;                &lt;Text style={{ fontSize: 14, color: '#FFFFFF', fontWeight: 700, letterSpacing: 1 }}&gt;下一步 · 约一次现场演示&lt;/Text&gt;&#10;            &lt;/Box&gt;&#10;            &lt;Text style={{ fontSize: 12, color: '#9AA3AF' }}&gt;30 分钟，从建单到打款走一遍，看完再定&lt;/Text&gt;&#10;        &lt;/Box&gt;&#10;    &lt;/Box&gt;&#10;&#10;    &lt;Box style={{ position: 'absolute', right: 76, top: 330, width: 300, flexDirection: 'column', gap: 18 }}&gt;&#10;        {[['Web 管理端', '电脑上看全局：运单、在途、报表、车务'], ['司机小程序', '手机上报和打卡：接单、装车、发车、到达'], ['财务小程序', '手机审批和打款：待办、审批、台账']].map((it, i) =&gt; (&#10;            &lt;Box key={i} style={{ flexDirection: 'column', alignItems: 'flex-end' }}&gt;&#10;                &lt;Text style={{ fontSize: 15, color: '#FFFFFF', fontWeight: 700, letterSpacing: 1 }}&gt;{it[0]}&lt;/Text&gt;&#10;                &lt;Text style={{ fontSize: 11.5, color: '#9AA3AF', marginTop: 4, textAlign: 'right' }}&gt;{it[1]}&lt;/Text&gt;&#10;                &lt;Box style={{ width: '100%', height: 1, background: 'rgba(255,255,255,0.12)', marginTop: 14 }} /&gt;&#10;            &lt;/Box&gt;&#10;        ))}&#10;    &lt;/Box&gt;&#10;&#10;    &lt;Box style={{ position: 'absolute', left: 84, bottom: 54, flexDirection: 'row', alignItems: 'center', gap: 14 }}&gt;&#10;        &lt;Box style={{ width: 40, height: 1, background: 'rgba(255,255,255,0.35)' }} /&gt;&#10;        &lt;Text style={{ fontSize: 12.5, color: '#9AA3AF', letterSpacing: 1 }}&gt;欢迎现场看演示 · 车队一体化运营平台&lt;/Text&gt;&#10;    &lt;/Box&gt;&#10;&#10;    &lt;Box style={{ position: 'absolute', right: 64, bottom: 50, flexDirection: 'column', alignItems: 'flex-end' }}&gt;&#10;        &lt;Text style={{ fontSize: 12, color: '#9AA3AF', letterSpacing: 1 }}&gt;谢谢&lt;/Text&gt;&#10;        &lt;Text style={{ fontSize: 11, color: '#6B7280', marginTop: 4 }}&gt;14 / 14&lt;/Text&gt;&#10;  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11827"/>
              </a:gs>
              <a:gs pos="100000">
                <a:srgbClr val="1E2635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50" name=""/>
          <p:cNvSpPr/>
          <p:nvPr/>
        </p:nvSpPr>
        <p:spPr>
          <a:xfrm rot="0" flipH="0" flipV="0">
            <a:off x="7524750" y="666750"/>
            <a:ext cx="4095750" cy="4095750"/>
          </a:xfrm>
          <a:custGeom>
            <a:pathLst>
              <a:path w="430" h="430">
                <a:moveTo>
                  <a:pt x="215" y="0"/>
                </a:moveTo>
                <a:lnTo>
                  <a:pt x="215" y="0"/>
                </a:lnTo>
                <a:cubicBezTo>
                  <a:pt x="334" y="0"/>
                  <a:pt x="430" y="96"/>
                  <a:pt x="430" y="215"/>
                </a:cubicBezTo>
                <a:lnTo>
                  <a:pt x="430" y="215"/>
                </a:lnTo>
                <a:cubicBezTo>
                  <a:pt x="430" y="334"/>
                  <a:pt x="334" y="430"/>
                  <a:pt x="215" y="430"/>
                </a:cubicBezTo>
                <a:lnTo>
                  <a:pt x="215" y="430"/>
                </a:lnTo>
                <a:cubicBezTo>
                  <a:pt x="96" y="430"/>
                  <a:pt x="0" y="334"/>
                  <a:pt x="0" y="215"/>
                </a:cubicBezTo>
                <a:lnTo>
                  <a:pt x="0" y="215"/>
                </a:lnTo>
                <a:cubicBezTo>
                  <a:pt x="0" y="96"/>
                  <a:pt x="96" y="0"/>
                  <a:pt x="215" y="0"/>
                </a:cubicBezTo>
                <a:close/>
              </a:path>
            </a:pathLst>
          </a:custGeom>
          <a:ln w="12700">
            <a:solidFill>
              <a:srgbClr val="C8102E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1" name=""/>
          <p:cNvSpPr/>
          <p:nvPr/>
        </p:nvSpPr>
        <p:spPr>
          <a:xfrm rot="0" flipH="0" flipV="0">
            <a:off x="8524875" y="1666875"/>
            <a:ext cx="2095500" cy="2095500"/>
          </a:xfrm>
          <a:custGeom>
            <a:pathLst>
              <a:path w="220" h="220">
                <a:moveTo>
                  <a:pt x="110" y="0"/>
                </a:moveTo>
                <a:lnTo>
                  <a:pt x="110" y="0"/>
                </a:lnTo>
                <a:cubicBezTo>
                  <a:pt x="171" y="0"/>
                  <a:pt x="220" y="49"/>
                  <a:pt x="220" y="110"/>
                </a:cubicBezTo>
                <a:lnTo>
                  <a:pt x="220" y="110"/>
                </a:lnTo>
                <a:cubicBezTo>
                  <a:pt x="220" y="171"/>
                  <a:pt x="171" y="220"/>
                  <a:pt x="110" y="220"/>
                </a:cubicBezTo>
                <a:lnTo>
                  <a:pt x="110" y="220"/>
                </a:lnTo>
                <a:cubicBezTo>
                  <a:pt x="49" y="220"/>
                  <a:pt x="0" y="171"/>
                  <a:pt x="0" y="110"/>
                </a:cubicBezTo>
                <a:lnTo>
                  <a:pt x="0" y="110"/>
                </a:lnTo>
                <a:cubicBezTo>
                  <a:pt x="0" y="49"/>
                  <a:pt x="49" y="0"/>
                  <a:pt x="110" y="0"/>
                </a:cubicBezTo>
                <a:close/>
              </a:path>
            </a:pathLst>
          </a:custGeom>
          <a:ln w="12700">
            <a:solidFill>
              <a:srgbClr val="FFFFFF">
                <a:alpha val="9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2" name=""/>
          <p:cNvSpPr/>
          <p:nvPr/>
        </p:nvSpPr>
        <p:spPr>
          <a:xfrm rot="0" flipH="0" flipV="0">
            <a:off x="800100" y="1924050"/>
            <a:ext cx="266700" cy="28575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162050" y="1866900"/>
            <a:ext cx="7810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 spc="225">
                <a:solidFill>
                  <a:srgbClr val="E5E7EB"/>
                </a:solidFill>
                <a:latin typeface="Microsoft YaHei"/>
                <a:ea typeface="Microsoft YaHei"/>
              </a:rPr>
              <a:t>怎</a:t>
            </a:r>
            <a:r>
              <a:rPr lang="en-US" sz="938" b="1" spc="2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225">
                <a:solidFill>
                  <a:srgbClr val="E5E7EB"/>
                </a:solidFill>
                <a:latin typeface="Microsoft YaHei"/>
                <a:ea typeface="Microsoft YaHei"/>
              </a:rPr>
              <a:t>么</a:t>
            </a:r>
            <a:r>
              <a:rPr lang="en-US" sz="938" b="1" spc="2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225">
                <a:solidFill>
                  <a:srgbClr val="E5E7EB"/>
                </a:solidFill>
                <a:latin typeface="Microsoft YaHei"/>
                <a:ea typeface="Microsoft YaHei"/>
              </a:rPr>
              <a:t>落</a:t>
            </a:r>
            <a:r>
              <a:rPr lang="en-US" sz="938" b="1" spc="225">
                <a:solidFill>
                  <a:srgbClr val="E5E7E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38" b="1" spc="225">
                <a:solidFill>
                  <a:srgbClr val="E5E7EB"/>
                </a:solidFill>
                <a:latin typeface="Microsoft YaHei"/>
                <a:ea typeface="Microsoft YaHei"/>
              </a:rPr>
              <a:t>地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800100" y="2238375"/>
            <a:ext cx="7429500" cy="790575"/>
          </a:xfrm>
          <a:prstGeom prst="rect"/>
        </p:spPr>
        <p:txBody>
          <a:bodyPr wrap="none" lIns="0" tIns="0" rIns="0" bIns="0"/>
          <a:p>
            <a:pPr>
              <a:lnSpc>
                <a:spcPct val="118000"/>
              </a:lnSpc>
            </a:pPr>
            <a:r>
              <a:rPr lang="zh-CN" sz="4350" b="1" spc="75">
                <a:solidFill>
                  <a:srgbClr val="FFFFFF"/>
                </a:solidFill>
                <a:latin typeface="Microsoft YaHei"/>
                <a:ea typeface="Microsoft YaHei"/>
              </a:rPr>
              <a:t>让每一趟车，</a:t>
            </a:r>
            <a:r>
              <a:rPr lang="zh-CN" sz="4350" b="1" spc="75">
                <a:solidFill>
                  <a:srgbClr val="FFFFFF"/>
                </a:solidFill>
                <a:latin typeface="Microsoft YaHei"/>
                <a:ea typeface="Microsoft YaHei"/>
              </a:rPr>
              <a:t>都算得清。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800100" y="34861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4D63"/>
                </a:solidFill>
                <a:latin typeface="Microsoft YaHei"/>
                <a:ea typeface="Microsoft YaHei"/>
              </a:rPr>
              <a:t>①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800100" y="37909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挑一条线试跑两周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800100" y="40195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先跑一条常跑的线，把单、车、钱跑通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3295650" y="34861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4D63"/>
                </a:solidFill>
                <a:latin typeface="Microsoft YaHei"/>
                <a:ea typeface="Microsoft YaHei"/>
              </a:rPr>
              <a:t>②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3295650" y="37909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把台账搬上来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3295650" y="40195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运价、客户、货物先录，报表才有底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5791200" y="34861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500" b="1">
                <a:solidFill>
                  <a:srgbClr val="FF4D63"/>
                </a:solidFill>
                <a:latin typeface="Microsoft YaHei"/>
                <a:ea typeface="Microsoft YaHei"/>
              </a:rPr>
              <a:t>③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5791200" y="3790950"/>
            <a:ext cx="23241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88" b="1">
                <a:solidFill>
                  <a:srgbClr val="FFFFFF"/>
                </a:solidFill>
                <a:latin typeface="Microsoft YaHei"/>
                <a:ea typeface="Microsoft YaHei"/>
              </a:rPr>
              <a:t>按角色开账号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791200" y="4019550"/>
            <a:ext cx="2324100" cy="228600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调度、司机、财务各开各的，跑顺再铺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800100" y="4800600"/>
            <a:ext cx="6858000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800100" y="5038725"/>
            <a:ext cx="5905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 spc="75">
                <a:solidFill>
                  <a:srgbClr val="FFFFFF"/>
                </a:solidFill>
                <a:latin typeface="Microsoft YaHei"/>
                <a:ea typeface="Microsoft YaHei"/>
              </a:rPr>
              <a:t>两周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1504950" y="5038725"/>
            <a:ext cx="47053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9AA3AF"/>
                </a:solidFill>
                <a:latin typeface="Microsoft YaHei"/>
                <a:ea typeface="Microsoft YaHei"/>
              </a:rPr>
              <a:t>先跑一条线，两周就能看出差别——单子清不清、账对不对、车在哪一眼能不能看到。</a:t>
            </a:r>
            <a:endParaRPr/>
          </a:p>
        </p:txBody>
      </p:sp>
      <p:sp>
        <p:nvSpPr>
          <p:cNvPr id="167" name=""/>
          <p:cNvSpPr/>
          <p:nvPr/>
        </p:nvSpPr>
        <p:spPr>
          <a:xfrm rot="0" flipH="0" flipV="0">
            <a:off x="800100" y="5591175"/>
            <a:ext cx="2000250" cy="390525"/>
          </a:xfrm>
          <a:prstGeom prst="roundRect">
            <a:avLst>
              <a:gd name="adj" fmla="val 7317"/>
            </a:avLst>
          </a:prstGeom>
          <a:solidFill>
            <a:srgbClr val="C8102E"/>
          </a:solidFill>
          <a:ln/>
        </p:spPr>
        <p:txBody>
          <a:bodyPr/>
          <a:p/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1009650" y="5705475"/>
            <a:ext cx="1581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下一步</a:t>
            </a:r>
            <a:r>
              <a:rPr lang="en-US" sz="1050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b="1" spc="75">
                <a:solidFill>
                  <a:srgbClr val="FFFFFF"/>
                </a:solidFill>
                <a:latin typeface="Microsoft YaHei"/>
                <a:ea typeface="Microsoft YaHei"/>
              </a:rPr>
              <a:t>约一次现场演示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2952750" y="5715000"/>
            <a:ext cx="21050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AA3AF"/>
                </a:solidFill>
                <a:latin typeface="Microsoft YaHei"/>
                <a:ea typeface="Microsoft YaHei"/>
              </a:rPr>
              <a:t xml:space="preserve">30 </a:t>
            </a:r>
            <a:r>
              <a:rPr lang="zh-CN" sz="900">
                <a:solidFill>
                  <a:srgbClr val="9AA3AF"/>
                </a:solidFill>
                <a:latin typeface="Microsoft YaHei"/>
                <a:ea typeface="Microsoft YaHei"/>
              </a:rPr>
              <a:t>分钟，从建单到打款走一遍，看完再定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0629900" y="3143250"/>
            <a:ext cx="838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75">
                <a:solidFill>
                  <a:srgbClr val="FFFFFF"/>
                </a:solidFill>
                <a:latin typeface="Microsoft YaHei"/>
                <a:ea typeface="Microsoft YaHei"/>
              </a:rPr>
              <a:t xml:space="preserve">Web </a:t>
            </a:r>
            <a:r>
              <a:rPr lang="zh-CN" sz="1125" b="1" spc="75">
                <a:solidFill>
                  <a:srgbClr val="FFFFFF"/>
                </a:solidFill>
                <a:latin typeface="Microsoft YaHei"/>
                <a:ea typeface="Microsoft YaHei"/>
              </a:rPr>
              <a:t>管理端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9496425" y="3352800"/>
            <a:ext cx="19716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电脑上看全局：运单、在途、报表、车务</a:t>
            </a:r>
            <a:endParaRPr/>
          </a:p>
        </p:txBody>
      </p:sp>
      <p:sp>
        <p:nvSpPr>
          <p:cNvPr id="172" name=""/>
          <p:cNvSpPr/>
          <p:nvPr/>
        </p:nvSpPr>
        <p:spPr>
          <a:xfrm rot="0" flipH="0" flipV="0">
            <a:off x="8610600" y="3619500"/>
            <a:ext cx="2857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10706100" y="3800475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FFFFFF"/>
                </a:solidFill>
                <a:latin typeface="Microsoft YaHei"/>
                <a:ea typeface="Microsoft YaHei"/>
              </a:rPr>
              <a:t>司机小程序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382125" y="4010025"/>
            <a:ext cx="2085975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手机上报和打卡：接单、装车、发车、到达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8610600" y="4276725"/>
            <a:ext cx="2857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10706100" y="4457700"/>
            <a:ext cx="762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75">
                <a:solidFill>
                  <a:srgbClr val="FFFFFF"/>
                </a:solidFill>
                <a:latin typeface="Microsoft YaHei"/>
                <a:ea typeface="Microsoft YaHei"/>
              </a:rPr>
              <a:t>财务小程序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9715500" y="4667250"/>
            <a:ext cx="1752600" cy="133350"/>
          </a:xfrm>
          <a:prstGeom prst="rect"/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863">
                <a:solidFill>
                  <a:srgbClr val="9AA3AF"/>
                </a:solidFill>
                <a:latin typeface="Microsoft YaHei"/>
                <a:ea typeface="Microsoft YaHei"/>
              </a:rPr>
              <a:t>手机审批和打款：待办、审批、台账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8610600" y="4933950"/>
            <a:ext cx="2857500" cy="9525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800100" y="6267450"/>
            <a:ext cx="381000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314450" y="6200775"/>
            <a:ext cx="2200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9AA3AF"/>
                </a:solidFill>
                <a:latin typeface="Microsoft YaHei"/>
                <a:ea typeface="Microsoft YaHei"/>
              </a:rPr>
              <a:t>欢迎现场看演示</a:t>
            </a:r>
            <a:r>
              <a:rPr lang="en-US" sz="938" spc="75">
                <a:solidFill>
                  <a:srgbClr val="9AA3A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9AA3AF"/>
                </a:solidFill>
                <a:latin typeface="Microsoft YaHei"/>
                <a:ea typeface="Microsoft YaHei"/>
              </a:rPr>
              <a:t>车队一体化运营平台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1334750" y="60674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9AA3AF"/>
                </a:solidFill>
                <a:latin typeface="Microsoft YaHei"/>
                <a:ea typeface="Microsoft YaHei"/>
              </a:rPr>
              <a:t>谢谢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258550" y="6248400"/>
            <a:ext cx="3238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6B7280"/>
                </a:solidFill>
                <a:latin typeface="Microsoft YaHei"/>
                <a:ea typeface="Microsoft YaHei"/>
              </a:rPr>
              <a:t>14 / 14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2026-10-25T19:53:11Z</dcterms:created>
  <dcterms:modified xsi:type="dcterms:W3CDTF">2026-10-25T19:53:11Z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{"AIGC":{"Label":"1","ContentProducer":"00119111010856365494821B355","ProduceID":"01a172cd10d4777f861710aec58974a5","ReservedCode1":"","ContentPropagator":"00119111010856365494821B355","PropagateID":"01a172cd10d4777f861710aec58974a5","ReservedCode2":""}}</vt:lpwstr>
  </property>
</Properties>
</file>